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开场：本次分享聚焦向量检索机制 + 云身份链路。</a:t>
            </a:r>
          </a:p>
          <a:p>
            <a:r>
              <a:t>结构：Part 1 Lance，Part 2 Cloud IAM + IDaaS。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本页重点：基于最新 PR #6 与双项目联读</a:t>
            </a:r>
          </a:p>
          <a:p>
            <a:r>
              <a:t>- 主仓库：`es-9.2.4-plugins-rt-scale`</a:t>
            </a:r>
          </a:p>
          <a:p>
            <a:r>
              <a:t>- 关联仓库：`../ldap-demo`</a:t>
            </a:r>
          </a:p>
          <a:p>
            <a:r>
              <a:t>- 目标：统一说明向量检索链路与云身份链路，面向技术评审与团队宣讲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本页重点：目录</a:t>
            </a:r>
          </a:p>
          <a:p>
            <a:r>
              <a:t>- Part 1: Lance Vector</a:t>
            </a:r>
          </a:p>
          <a:p>
            <a:r>
              <a:t>- 多分片支持</a:t>
            </a:r>
          </a:p>
          <a:p>
            <a:r>
              <a:t>- NRT 刷新机制</a:t>
            </a:r>
          </a:p>
          <a:p>
            <a:r>
              <a:t>- Prefilter（过滤下推 + 策略）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本页重点：目录</a:t>
            </a:r>
          </a:p>
          <a:p>
            <a:r>
              <a:t>- Cloud IAM 支持 SSO 与 SDK 访问 ES</a:t>
            </a:r>
          </a:p>
          <a:p>
            <a:r>
              <a:t>- 通过 IDaaS（`../ldap-demo`）把 LDAP 账户打通到阿里云与 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1-1: 多分片支持（配置模型）</a:t>
            </a:r>
          </a:p>
          <a:p>
            <a:r>
              <a:t>- `lance_vector.storage` 同时支持两类模式：</a:t>
            </a:r>
          </a:p>
          <a:p>
            <a:r>
              <a:t>- Legacy 单 URI：`storage.uri`</a:t>
            </a:r>
          </a:p>
          <a:p>
            <a:r>
              <a:t>- Shard-aware：`storage.uri_prefix + shard_path + dataset_name`</a:t>
            </a:r>
          </a:p>
          <a:p>
            <a:r>
              <a:t>- `sharding_strategy` 支持：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1-1: 多分片支持（配置模型）</a:t>
            </a:r>
          </a:p>
          <a:p>
            <a:r>
              <a:t>- 默认行为：</a:t>
            </a:r>
          </a:p>
          <a:p>
            <a:r>
              <a:t>- shard-aware 默认 `ES_ROUTING`</a:t>
            </a:r>
          </a:p>
          <a:p>
            <a:r>
              <a:t>- legacy 默认 `NONE`</a:t>
            </a:r>
          </a:p>
          <a:p>
            <a:r>
              <a:t>- **价值**：同一套查询 DSL，既能兼容历史单数据集，也能平滑升级到分片级数据集。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1-2: 多分片支持（查询执行）</a:t>
            </a:r>
          </a:p>
          <a:p>
            <a:r>
              <a:t>- 查询阶段会先 `resolveUri(index, shard)` 决定当前分片应访问的数据集 URI。</a:t>
            </a:r>
          </a:p>
          <a:p>
            <a:r>
              <a:t>- 分片过滤逻辑用 ES Murmur3 路由计算候选归属分片。</a:t>
            </a:r>
          </a:p>
          <a:p>
            <a:r>
              <a:t>- 关键正确性修复：</a:t>
            </a:r>
          </a:p>
          <a:p>
            <a:r>
              <a:t>- 用 `Math.floorMod(hash, numRoutingShards)` 代替 `Math.abs(hash) % n`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1-3: NRT 刷新（自动 + 手动）</a:t>
            </a:r>
          </a:p>
          <a:p>
            <a:r>
              <a:t>- 插件层已提供：</a:t>
            </a:r>
          </a:p>
          <a:p>
            <a:r>
              <a:t>- 自动刷新开关：`lance.refresh.enabled`（默认 true）</a:t>
            </a:r>
          </a:p>
          <a:p>
            <a:r>
              <a:t>- 刷新间隔：`lance.refresh.interval`（默认 30s）</a:t>
            </a:r>
          </a:p>
          <a:p>
            <a:r>
              <a:t>- 在 `createComponents()` 中按开关启动 refresh 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1-3: NRT 刷新（自动 + 手动）</a:t>
            </a:r>
          </a:p>
          <a:p>
            <a:r>
              <a:t>- **运维含义**：可以“定时失效重载 + 人工强制刷新”双路径保障可观测的最终一致。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1-4: NRT 并发安全（避免刷新误伤查询）</a:t>
            </a:r>
          </a:p>
          <a:p>
            <a:r>
              <a:t>- 刷新本质是 `LanceDatasetRegistry.clear()/invalidate()`，会触发 dataset close。</a:t>
            </a:r>
          </a:p>
          <a:p>
            <a:r>
              <a:t>- 当前实现引入查询-刷新读写锁：</a:t>
            </a:r>
          </a:p>
          <a:p>
            <a:r>
              <a:t>- 查询路径：`withSearchLock()`（读锁）</a:t>
            </a:r>
          </a:p>
          <a:p>
            <a:r>
              <a:t>- 刷新路径：`withRefreshLock()`（写锁）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1-4: NRT 并发安全（避免刷新误伤查询）</a:t>
            </a:r>
          </a:p>
          <a:p>
            <a:r>
              <a:t>- 避免“查询执行中 dataset 被关闭”的并发故障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1-5: Prefilter（过滤下推）机制</a:t>
            </a:r>
          </a:p>
          <a:p>
            <a:r>
              <a:t>- `field_mapping` 支持 ES 字段到 Lance 列映射。</a:t>
            </a:r>
          </a:p>
          <a:p>
            <a:r>
              <a:t>- `EsToLanceFilterConverter` 当前 v1 主要支持 `TermQuery -&gt; SQL`。</a:t>
            </a:r>
          </a:p>
          <a:p>
            <a:r>
              <a:t>- 查询执行顺序：</a:t>
            </a:r>
          </a:p>
          <a:p>
            <a:r>
              <a:t>- 尝试把 filter 转 SQL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1-5: Prefilter（过滤下推）机制</a:t>
            </a:r>
          </a:p>
          <a:p>
            <a:r>
              <a:t>- SQL 值做单引号转义，降低注入风险。</a:t>
            </a:r>
          </a:p>
          <a:p>
            <a:r>
              <a:t>- **设计原则**：`try pushdown -&gt; fallback`，优先正确，再追性能。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1-6: Prefilter 与 nprobes 的语义一致性</a:t>
            </a:r>
          </a:p>
          <a:p>
            <a:r>
              <a:t>- `lance_knn` 的 `nprobes` 已打通到执行层。</a:t>
            </a:r>
          </a:p>
          <a:p>
            <a:r>
              <a:t>- `LanceKnnQueryBuilder` 解析 `nprobes` 后透传到 `LanceKnnQuery`。</a:t>
            </a:r>
          </a:p>
          <a:p>
            <a:r>
              <a:t>- 关键修复：nprobes/pushdown 路径不再强制 `cosine`，而是保持 mapping 配置的 `similarity`（`cosine/dot_product/l2`）。</a:t>
            </a:r>
          </a:p>
          <a:p>
            <a:r>
              <a:t>- **收益**：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1-7: 高层架构数据流（当前 + 目标）</a:t>
            </a:r>
          </a:p>
          <a:p>
            <a:r>
              <a:t>- 当前已落地（PR #6）</a:t>
            </a:r>
          </a:p>
          <a:p>
            <a:r>
              <a:t>- 以外部 Lance 数据集只读检索为主（`read_only` 强约束）。</a:t>
            </a:r>
          </a:p>
          <a:p>
            <a:r>
              <a:t>- 查询路径：ES -&gt; Lance 检索候选 -&gt; `_id` join -&gt; 返回 ES 命中。</a:t>
            </a:r>
          </a:p>
          <a:p>
            <a:r>
              <a:t>- 目标态（设计文档方向）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1-7: 高层架构数据流（当前 + 目标）</a:t>
            </a:r>
          </a:p>
          <a:p>
            <a:r>
              <a:t>- ES 保持过滤、聚合、权限、生态能力。</a:t>
            </a:r>
          </a:p>
          <a:p>
            <a:r>
              <a:t>- **说明**：第二部分是“架构目标与路线图”，不是当前分支已全部产品化完成。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1-8: 为什么“数据湖优先 + ES 回填”值得做</a:t>
            </a:r>
          </a:p>
          <a:p>
            <a:r>
              <a:t>- 成本：向量主数据留在对象存储，避免双份高成本存储。</a:t>
            </a:r>
          </a:p>
          <a:p>
            <a:r>
              <a:t>- 规模：数据湖天然更适合超大规模向量资产治理。</a:t>
            </a:r>
          </a:p>
          <a:p>
            <a:r>
              <a:t>- 语义：ES 专注检索编排、权限和非向量检索能力。</a:t>
            </a:r>
          </a:p>
          <a:p>
            <a:r>
              <a:t>- 可演进：后续可逐步增强写入一致性、刷新协议、回填策略。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2-1: Cloud IAM 对 ES 的能力总览</a:t>
            </a:r>
          </a:p>
          <a:p>
            <a:r>
              <a:t>- Realm 类型：`cloud_iam`</a:t>
            </a:r>
          </a:p>
          <a:p>
            <a:r>
              <a:t>- 两条认证入口：</a:t>
            </a:r>
          </a:p>
          <a:p>
            <a:r>
              <a:t>- STS 签名头：`X-ES-IAM-Signed`</a:t>
            </a:r>
          </a:p>
          <a:p>
            <a:r>
              <a:t>- OAuth Bearer：`Authorization: Bearer &lt;token&gt;`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2-2: SDK 访问 ES（RAM 用户/角色）</a:t>
            </a:r>
          </a:p>
          <a:p>
            <a:r>
              <a:t>- SDK 使用 RAM AK/SK（或 STS 临时凭证）生成签名参数。</a:t>
            </a:r>
          </a:p>
          <a:p>
            <a:r>
              <a:t>- ES 侧 `AliyunStsClient` 调用 `GetCallerIdentity` 验证身份。</a:t>
            </a:r>
          </a:p>
          <a:p>
            <a:r>
              <a:t>- 解析 ARN -&gt; PrincipalType（`USER/ROLE/ASSUMED_ROLE`）-&gt; 角色映射 -&gt; 发放 ES User。</a:t>
            </a:r>
          </a:p>
          <a:p>
            <a:r>
              <a:t>- **特点**：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2-3: SSO 访问 ES（经 IDaaS）</a:t>
            </a:r>
          </a:p>
          <a:p>
            <a:r>
              <a:t>- 推荐链路（企业统一身份）：</a:t>
            </a:r>
          </a:p>
          <a:p>
            <a:r>
              <a:t>- LDAP 用户在 IDaaS 登录（SAML Role SSO）</a:t>
            </a:r>
          </a:p>
          <a:p>
            <a:r>
              <a:t>- IDaaS 将用户映射到 RAM 角色</a:t>
            </a:r>
          </a:p>
          <a:p>
            <a:r>
              <a:t>- 用户/网关拿到该角色临时凭证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2-3: SSO 访问 ES（经 IDaaS）</a:t>
            </a:r>
          </a:p>
          <a:p>
            <a:r>
              <a:t>- **结果**：同一身份源（LDAP）可同时访问阿里云资源与 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2-4: `../ldap-demo` 的关键价值</a:t>
            </a:r>
          </a:p>
          <a:p>
            <a:r>
              <a:t>- 解决“LDAP 在隔离内网、IDaaS 无法入站直连”的现实问题。</a:t>
            </a:r>
          </a:p>
          <a:p>
            <a:r>
              <a:t>- 通过 `idaas-ldap-connector` 实现：</a:t>
            </a:r>
          </a:p>
          <a:p>
            <a:r>
              <a:t>- Agent 主动读取 LDAP</a:t>
            </a:r>
          </a:p>
          <a:p>
            <a:r>
              <a:t>- 通过出站 HTTPS（SCIM 2.0）同步到 IDaaS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2-5: 单一 RAM 角色映射模型</a:t>
            </a:r>
          </a:p>
          <a:p>
            <a:r>
              <a:t>- 在 IDaaS 应用账户中，为 LDAP 用户配置统一的 RAM 角色标识：</a:t>
            </a:r>
          </a:p>
          <a:p>
            <a:r>
              <a:t>- `role-arn,provider-arn`</a:t>
            </a:r>
          </a:p>
          <a:p>
            <a:r>
              <a:t>- 示例模式：多个 LDAP 用户 -&gt; 同一个 RAM 角色</a:t>
            </a:r>
          </a:p>
          <a:p>
            <a:r>
              <a:t>- 这样可实现：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2-5: 单一 RAM 角色映射模型</a:t>
            </a:r>
          </a:p>
          <a:p>
            <a:r>
              <a:t>- ES 侧继续用 Cloud IAM realm 做精细角色映射（按 ARN 或 metadata）</a:t>
            </a:r>
          </a:p>
          <a:p>
            <a:r>
              <a:t>- **组织收益**：身份收敛、权限模型收敛、审计路径收敛。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2-6: 现实限制与演进建议</a:t>
            </a:r>
          </a:p>
          <a:p>
            <a:r>
              <a:t>- 已识别限制</a:t>
            </a:r>
          </a:p>
          <a:p>
            <a:r>
              <a:t>- Cloud IAM OAuth 路径对 assumed-role 识别仍弱于 STS 路径（文档已标注）。</a:t>
            </a:r>
          </a:p>
          <a:p>
            <a:r>
              <a:t>- `../ldap-demo` 文档存在 OIDC 与 SAML 并存历史，当前应以 SAML Role SSO 为主线。</a:t>
            </a:r>
          </a:p>
          <a:p>
            <a:r>
              <a:t>- 建议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本页重点：Part 2-6: 现实限制与演进建议</a:t>
            </a:r>
          </a:p>
          <a:p>
            <a:r>
              <a:t>- 统一文档口径，避免实施团队混用 OIDC 与 SAML 配置模板。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本页重点：落地演示建议（可直接 Tech Share Live Demo）</a:t>
            </a:r>
          </a:p>
          <a:p>
            <a:r>
              <a:t>- 演示 shard-aware 索引配置与 `sharding_strategy` 切换。</a:t>
            </a:r>
          </a:p>
          <a:p>
            <a:r>
              <a:t>- 演示 `lance_knn` 的 `nprobes` 与 term filter 下推。</a:t>
            </a:r>
          </a:p>
          <a:p>
            <a:r>
              <a:t>- 调用 `POST /_lance/refresh` + `GET /_lance/stats` 观察刷新与缓存行为。</a:t>
            </a:r>
          </a:p>
          <a:p>
            <a:r>
              <a:t>- 演示 Cloud IAM STS 签名访问 `/_security/_authenticate`。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本页重点：证据索引（建议讲解时备用）</a:t>
            </a:r>
          </a:p>
          <a:p>
            <a:r>
              <a:t>- Lance Vector（主仓库）</a:t>
            </a:r>
          </a:p>
          <a:p>
            <a:r>
              <a:t>- 多分片/路由：`plugins/lance-vector/src/main/java/org/elasticsearch/plugin/lance/query/LanceKnnQuery.java`</a:t>
            </a:r>
          </a:p>
          <a:p>
            <a:r>
              <a:t>- 存储配置：`plugins/lance-vector/src/main/java/org/elasticsearch/plugin/lance/mapper/LanceStorageConfig.java`</a:t>
            </a:r>
          </a:p>
          <a:p>
            <a:r>
              <a:t>- refresh 启停与 REST 注册：`plugins/lance-vector/src/main/java/org/elasticsearch/plugin/lance/LanceVectorPlugin.java`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本页重点：证据索引（建议讲解时备用）</a:t>
            </a:r>
          </a:p>
          <a:p>
            <a:r>
              <a:t>- filter 转换：`plugins/lance-vector/src/main/java/org/elasticsearch/plugin/lance/query/EsToLanceFilterConverter.java`</a:t>
            </a:r>
          </a:p>
          <a:p>
            <a:r>
              <a:t>- Cloud IAM（主仓库）</a:t>
            </a:r>
          </a:p>
          <a:p>
            <a:r>
              <a:t>- Realm 主逻辑：`plugins/security-realm-cloud-iam/src/main/java/org/elasticsearch/plugin/security/cloudiam/CloudIamRealm.java`</a:t>
            </a:r>
          </a:p>
          <a:p>
            <a:r>
              <a:t>- STS 校验：`plugins/security-realm-cloud-iam/src/main/java/org/elasticsearch/plugin/security/cloudiam/AliyunStsClient.java`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本页重点：证据索引（建议讲解时备用）</a:t>
            </a:r>
          </a:p>
          <a:p>
            <a:r>
              <a:t>- IDaaS/LDAP（`../ldap-demo`）</a:t>
            </a:r>
          </a:p>
          <a:p>
            <a:r>
              <a:t>- 总体说明：`../ldap-demo/README.md`</a:t>
            </a:r>
          </a:p>
          <a:p>
            <a:r>
              <a:t>- SAML 架构说明：`../ldap-demo/docs/2026-02-07-SAML_架构说明.md`</a:t>
            </a:r>
          </a:p>
          <a:p>
            <a:r>
              <a:t>- SAML 配置指南：`../ldap-demo/docs/IDAAS_SAML_RoleSSO_设置指南.md`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本页重点：证据索引（建议讲解时备用）</a:t>
            </a:r>
          </a:p>
          <a:p>
            <a:r>
              <a:t>- E2E 校验：`../ldap-demo/validate-sso-e2e.py`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latin typeface="Microsoft YaHei"/>
              </a:rPr>
              <a:t>Lance Vector + Cloud IAM + IDaaS(LDAP) 技术分享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latin typeface="Microsoft YaHei"/>
              </a:rPr>
              <a:t>PR #6</a:t>
            </a:r>
          </a:p>
          <a:p>
            <a:r>
              <a:rPr sz="2000">
                <a:latin typeface="Microsoft YaHei"/>
              </a:rPr>
              <a:t>基于 es-9.2.4-plugins-rt-scale + ../ldap-demo</a:t>
            </a:r>
          </a:p>
          <a:p>
            <a:r>
              <a:rPr sz="2000">
                <a:latin typeface="Microsoft YaHei"/>
              </a:rPr>
              <a:t>版本：2026-02-09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基于最新 PR #6 与双项目联读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主仓库：`es-9.2.4-plugins-rt-scale`</a:t>
            </a:r>
          </a:p>
          <a:p>
            <a:pPr/>
            <a:r>
              <a:rPr sz="2200">
                <a:latin typeface="Microsoft YaHei"/>
              </a:rPr>
              <a:t>关联仓库：`../ldap-demo`</a:t>
            </a:r>
          </a:p>
          <a:p>
            <a:pPr/>
            <a:r>
              <a:rPr sz="2200">
                <a:latin typeface="Microsoft YaHei"/>
              </a:rPr>
              <a:t>目标：统一说明向量检索链路与云身份链路，面向技术评审与团队宣讲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Part 1: Lance Vector</a:t>
            </a:r>
          </a:p>
          <a:p>
            <a:pPr/>
            <a:r>
              <a:rPr sz="2200">
                <a:latin typeface="Microsoft YaHei"/>
              </a:rPr>
              <a:t>多分片支持</a:t>
            </a:r>
          </a:p>
          <a:p>
            <a:pPr/>
            <a:r>
              <a:rPr sz="2200">
                <a:latin typeface="Microsoft YaHei"/>
              </a:rPr>
              <a:t>NRT 刷新机制</a:t>
            </a:r>
          </a:p>
          <a:p>
            <a:pPr/>
            <a:r>
              <a:rPr sz="2200">
                <a:latin typeface="Microsoft YaHei"/>
              </a:rPr>
              <a:t>Prefilter（过滤下推 + 策略）</a:t>
            </a:r>
          </a:p>
          <a:p>
            <a:pPr/>
            <a:r>
              <a:rPr sz="2200">
                <a:latin typeface="Microsoft YaHei"/>
              </a:rPr>
              <a:t>高层架构与数据流（数据湖优先）</a:t>
            </a:r>
          </a:p>
          <a:p>
            <a:pPr/>
            <a:r>
              <a:rPr sz="2200">
                <a:latin typeface="Microsoft YaHei"/>
              </a:rPr>
              <a:t>Part 2: Cloud IAM + IDaaS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目录（续）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Cloud IAM 支持 SSO 与 SDK 访问 ES</a:t>
            </a:r>
          </a:p>
          <a:p>
            <a:pPr/>
            <a:r>
              <a:rPr sz="2200">
                <a:latin typeface="Microsoft YaHei"/>
              </a:rPr>
              <a:t>通过 IDaaS（`../ldap-demo`）把 LDAP 账户打通到阿里云与 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1-1: 多分片支持（配置模型）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`lance_vector.storage` 同时支持两类模式：</a:t>
            </a:r>
          </a:p>
          <a:p>
            <a:pPr/>
            <a:r>
              <a:rPr sz="2200">
                <a:latin typeface="Microsoft YaHei"/>
              </a:rPr>
              <a:t>Legacy 单 URI：`storage.uri`</a:t>
            </a:r>
          </a:p>
          <a:p>
            <a:pPr/>
            <a:r>
              <a:rPr sz="2200">
                <a:latin typeface="Microsoft YaHei"/>
              </a:rPr>
              <a:t>Shard-aware：`storage.uri_prefix + shard_path + dataset_name`</a:t>
            </a:r>
          </a:p>
          <a:p>
            <a:pPr/>
            <a:r>
              <a:rPr sz="2200">
                <a:latin typeface="Microsoft YaHei"/>
              </a:rPr>
              <a:t>`sharding_strategy` 支持：</a:t>
            </a:r>
          </a:p>
          <a:p>
            <a:pPr/>
            <a:r>
              <a:rPr sz="2200">
                <a:latin typeface="Microsoft YaHei"/>
              </a:rPr>
              <a:t>`NONE`：不做候选分片过滤</a:t>
            </a:r>
          </a:p>
          <a:p>
            <a:pPr/>
            <a:r>
              <a:rPr sz="2200">
                <a:latin typeface="Microsoft YaHei"/>
              </a:rPr>
              <a:t>`ES_ROUTING`：按 ES 路由算法过滤候选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1-1: 多分片支持（配置模型）（续）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默认行为：</a:t>
            </a:r>
          </a:p>
          <a:p>
            <a:pPr/>
            <a:r>
              <a:rPr sz="2200">
                <a:latin typeface="Microsoft YaHei"/>
              </a:rPr>
              <a:t>shard-aware 默认 `ES_ROUTING`</a:t>
            </a:r>
          </a:p>
          <a:p>
            <a:pPr/>
            <a:r>
              <a:rPr sz="2200">
                <a:latin typeface="Microsoft YaHei"/>
              </a:rPr>
              <a:t>legacy 默认 `NONE`</a:t>
            </a:r>
          </a:p>
          <a:p>
            <a:pPr/>
            <a:r>
              <a:rPr sz="2200">
                <a:latin typeface="Microsoft YaHei"/>
              </a:rPr>
              <a:t>**价值**：同一套查询 DSL，既能兼容历史单数据集，也能平滑升级到分片级数据集。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1-2: 多分片支持（查询执行）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查询阶段会先 `resolveUri(index, shard)` 决定当前分片应访问的数据集 URI。</a:t>
            </a:r>
          </a:p>
          <a:p>
            <a:pPr/>
            <a:r>
              <a:rPr sz="2200">
                <a:latin typeface="Microsoft YaHei"/>
              </a:rPr>
              <a:t>分片过滤逻辑用 ES Murmur3 路由计算候选归属分片。</a:t>
            </a:r>
          </a:p>
          <a:p>
            <a:pPr/>
            <a:r>
              <a:rPr sz="2200">
                <a:latin typeface="Microsoft YaHei"/>
              </a:rPr>
              <a:t>关键正确性修复：</a:t>
            </a:r>
          </a:p>
          <a:p>
            <a:pPr/>
            <a:r>
              <a:rPr sz="2200">
                <a:latin typeface="Microsoft YaHei"/>
              </a:rPr>
              <a:t>用 `Math.floorMod(hash, numRoutingShards)` 代替 `Math.abs(hash) % n`</a:t>
            </a:r>
          </a:p>
          <a:p>
            <a:pPr/>
            <a:r>
              <a:rPr sz="2200">
                <a:latin typeface="Microsoft YaHei"/>
              </a:rPr>
              <a:t>避免 `Integer.MIN_VALUE` 边界下的负分片错误</a:t>
            </a:r>
          </a:p>
          <a:p>
            <a:pPr/>
            <a:r>
              <a:rPr sz="2200">
                <a:latin typeface="Microsoft YaHei"/>
              </a:rPr>
              <a:t>**结论**：跨分片候选过滤从“可能误丢”变成“路由语义一致”。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1-3: NRT 刷新（自动 + 手动）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插件层已提供：</a:t>
            </a:r>
          </a:p>
          <a:p>
            <a:pPr/>
            <a:r>
              <a:rPr sz="2200">
                <a:latin typeface="Microsoft YaHei"/>
              </a:rPr>
              <a:t>自动刷新开关：`lance.refresh.enabled`（默认 true）</a:t>
            </a:r>
          </a:p>
          <a:p>
            <a:pPr/>
            <a:r>
              <a:rPr sz="2200">
                <a:latin typeface="Microsoft YaHei"/>
              </a:rPr>
              <a:t>刷新间隔：`lance.refresh.interval`（默认 30s）</a:t>
            </a:r>
          </a:p>
          <a:p>
            <a:pPr/>
            <a:r>
              <a:rPr sz="2200">
                <a:latin typeface="Microsoft YaHei"/>
              </a:rPr>
              <a:t>在 `createComponents()` 中按开关启动 refresh service</a:t>
            </a:r>
          </a:p>
          <a:p>
            <a:pPr/>
            <a:r>
              <a:rPr sz="2200">
                <a:latin typeface="Microsoft YaHei"/>
              </a:rPr>
              <a:t>REST 手动刷新已暴露：`POST /_lance/refresh`</a:t>
            </a:r>
          </a:p>
          <a:p>
            <a:pPr/>
            <a:r>
              <a:rPr sz="2200">
                <a:latin typeface="Microsoft YaHei"/>
              </a:rPr>
              <a:t>统计接口：`GET /_lance/stats`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1-3: NRT 刷新（自动 + 手动）（续）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**运维含义**：可以“定时失效重载 + 人工强制刷新”双路径保障可观测的最终一致。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1-4: NRT 并发安全（避免刷新误伤查询）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刷新本质是 `LanceDatasetRegistry.clear()/invalidate()`，会触发 dataset close。</a:t>
            </a:r>
          </a:p>
          <a:p>
            <a:pPr/>
            <a:r>
              <a:rPr sz="2200">
                <a:latin typeface="Microsoft YaHei"/>
              </a:rPr>
              <a:t>当前实现引入查询-刷新读写锁：</a:t>
            </a:r>
          </a:p>
          <a:p>
            <a:pPr/>
            <a:r>
              <a:rPr sz="2200">
                <a:latin typeface="Microsoft YaHei"/>
              </a:rPr>
              <a:t>查询路径：`withSearchLock()`（读锁）</a:t>
            </a:r>
          </a:p>
          <a:p>
            <a:pPr/>
            <a:r>
              <a:rPr sz="2200">
                <a:latin typeface="Microsoft YaHei"/>
              </a:rPr>
              <a:t>刷新路径：`withRefreshLock()`（写锁）</a:t>
            </a:r>
          </a:p>
          <a:p>
            <a:pPr/>
            <a:r>
              <a:rPr sz="2200">
                <a:latin typeface="Microsoft YaHei"/>
              </a:rPr>
              <a:t>效果：</a:t>
            </a:r>
          </a:p>
          <a:p>
            <a:pPr/>
            <a:r>
              <a:rPr sz="2200">
                <a:latin typeface="Microsoft YaHei"/>
              </a:rPr>
              <a:t>刷新会等待在途查询释放读锁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1-4: NRT 并发安全（避免刷新误伤查询）（续）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避免“查询执行中 dataset 被关闭”的并发故障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1-5: Prefilter（过滤下推）机制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`field_mapping` 支持 ES 字段到 Lance 列映射。</a:t>
            </a:r>
          </a:p>
          <a:p>
            <a:pPr/>
            <a:r>
              <a:rPr sz="2200">
                <a:latin typeface="Microsoft YaHei"/>
              </a:rPr>
              <a:t>`EsToLanceFilterConverter` 当前 v1 主要支持 `TermQuery -&gt; SQL`。</a:t>
            </a:r>
          </a:p>
          <a:p>
            <a:pPr/>
            <a:r>
              <a:rPr sz="2200">
                <a:latin typeface="Microsoft YaHei"/>
              </a:rPr>
              <a:t>查询执行顺序：</a:t>
            </a:r>
          </a:p>
          <a:p>
            <a:pPr/>
            <a:r>
              <a:rPr sz="2200">
                <a:latin typeface="Microsoft YaHei"/>
              </a:rPr>
              <a:t>尝试把 filter 转 SQL</a:t>
            </a:r>
          </a:p>
          <a:p>
            <a:pPr/>
            <a:r>
              <a:rPr sz="2200">
                <a:latin typeface="Microsoft YaHei"/>
              </a:rPr>
              <a:t>可转则 SQL 下推到 Lance (`ScanOptions.filter`)</a:t>
            </a:r>
          </a:p>
          <a:p>
            <a:pPr/>
            <a:r>
              <a:rPr sz="2200">
                <a:latin typeface="Microsoft YaHei"/>
              </a:rPr>
              <a:t>不可转则回退 ES 后过滤（不牺牲正确性）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1-5: Prefilter（过滤下推）机制（续）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SQL 值做单引号转义，降低注入风险。</a:t>
            </a:r>
          </a:p>
          <a:p>
            <a:pPr/>
            <a:r>
              <a:rPr sz="2200">
                <a:latin typeface="Microsoft YaHei"/>
              </a:rPr>
              <a:t>**设计原则**：`try pushdown -&gt; fallback`，优先正确，再追性能。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1-6: Prefilter 与 nprobes 的语义一致性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`lance_knn` 的 `nprobes` 已打通到执行层。</a:t>
            </a:r>
          </a:p>
          <a:p>
            <a:pPr/>
            <a:r>
              <a:rPr sz="2200">
                <a:latin typeface="Microsoft YaHei"/>
              </a:rPr>
              <a:t>`LanceKnnQueryBuilder` 解析 `nprobes` 后透传到 `LanceKnnQuery`。</a:t>
            </a:r>
          </a:p>
          <a:p>
            <a:pPr/>
            <a:r>
              <a:rPr sz="2200">
                <a:latin typeface="Microsoft YaHei"/>
              </a:rPr>
              <a:t>关键修复：nprobes/pushdown 路径不再强制 `cosine`，而是保持 mapping 配置的 `similarity`（`cosine/dot_product/l2`）。</a:t>
            </a:r>
          </a:p>
          <a:p>
            <a:pPr/>
            <a:r>
              <a:rPr sz="2200">
                <a:latin typeface="Microsoft YaHei"/>
              </a:rPr>
              <a:t>**收益**：</a:t>
            </a:r>
          </a:p>
          <a:p>
            <a:pPr/>
            <a:r>
              <a:rPr sz="2200">
                <a:latin typeface="Microsoft YaHei"/>
              </a:rPr>
              <a:t>参数调优真实生效</a:t>
            </a:r>
          </a:p>
          <a:p>
            <a:pPr/>
            <a:r>
              <a:rPr sz="2200">
                <a:latin typeface="Microsoft YaHei"/>
              </a:rPr>
              <a:t>避免“同一索引不同查询路径评分语义漂移”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1-7: 高层架构数据流（当前 + 目标）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当前已落地（PR #6）</a:t>
            </a:r>
          </a:p>
          <a:p>
            <a:pPr/>
            <a:r>
              <a:rPr sz="2200">
                <a:latin typeface="Microsoft YaHei"/>
              </a:rPr>
              <a:t>以外部 Lance 数据集只读检索为主（`read_only` 强约束）。</a:t>
            </a:r>
          </a:p>
          <a:p>
            <a:pPr/>
            <a:r>
              <a:rPr sz="2200">
                <a:latin typeface="Microsoft YaHei"/>
              </a:rPr>
              <a:t>查询路径：ES -&gt; Lance 检索候选 -&gt; `_id` join -&gt; 返回 ES 命中。</a:t>
            </a:r>
          </a:p>
          <a:p>
            <a:pPr/>
            <a:r>
              <a:rPr sz="2200">
                <a:latin typeface="Microsoft YaHei"/>
              </a:rPr>
              <a:t>目标态（设计文档方向）</a:t>
            </a:r>
          </a:p>
          <a:p>
            <a:pPr/>
            <a:r>
              <a:rPr sz="2200">
                <a:latin typeface="Microsoft YaHei"/>
              </a:rPr>
              <a:t>数据湖（Lance/S3）作为向量主存与 source-of-truth。</a:t>
            </a:r>
          </a:p>
          <a:p>
            <a:pPr/>
            <a:r>
              <a:rPr sz="2200">
                <a:latin typeface="Microsoft YaHei"/>
              </a:rPr>
              <a:t>写入优先进入 Lance（含向量列），再将非向量字段回填/索引到 ES。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1-7: 高层架构数据流（当前 + 目标）（续）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ES 保持过滤、聚合、权限、生态能力。</a:t>
            </a:r>
          </a:p>
          <a:p>
            <a:pPr/>
            <a:r>
              <a:rPr sz="2200">
                <a:latin typeface="Microsoft YaHei"/>
              </a:rPr>
              <a:t>**说明**：第二部分是“架构目标与路线图”，不是当前分支已全部产品化完成。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1-8: 为什么“数据湖优先 + ES 回填”值得做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成本：向量主数据留在对象存储，避免双份高成本存储。</a:t>
            </a:r>
          </a:p>
          <a:p>
            <a:pPr/>
            <a:r>
              <a:rPr sz="2200">
                <a:latin typeface="Microsoft YaHei"/>
              </a:rPr>
              <a:t>规模：数据湖天然更适合超大规模向量资产治理。</a:t>
            </a:r>
          </a:p>
          <a:p>
            <a:pPr/>
            <a:r>
              <a:rPr sz="2200">
                <a:latin typeface="Microsoft YaHei"/>
              </a:rPr>
              <a:t>语义：ES 专注检索编排、权限和非向量检索能力。</a:t>
            </a:r>
          </a:p>
          <a:p>
            <a:pPr/>
            <a:r>
              <a:rPr sz="2200">
                <a:latin typeface="Microsoft YaHei"/>
              </a:rPr>
              <a:t>可演进：后续可逐步增强写入一致性、刷新协议、回填策略。</a:t>
            </a:r>
          </a:p>
          <a:p>
            <a:pPr/>
            <a:r>
              <a:rPr sz="2200">
                <a:latin typeface="Microsoft YaHei"/>
              </a:rPr>
              <a:t>**一句话**：把“向量存储”与“检索编排”解耦，才能兼顾规模、成本和功能。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2-1: Cloud IAM 对 ES 的能力总览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Realm 类型：`cloud_iam`</a:t>
            </a:r>
          </a:p>
          <a:p>
            <a:pPr/>
            <a:r>
              <a:rPr sz="2200">
                <a:latin typeface="Microsoft YaHei"/>
              </a:rPr>
              <a:t>两条认证入口：</a:t>
            </a:r>
          </a:p>
          <a:p>
            <a:pPr/>
            <a:r>
              <a:rPr sz="2200">
                <a:latin typeface="Microsoft YaHei"/>
              </a:rPr>
              <a:t>STS 签名头：`X-ES-IAM-Signed`</a:t>
            </a:r>
          </a:p>
          <a:p>
            <a:pPr/>
            <a:r>
              <a:rPr sz="2200">
                <a:latin typeface="Microsoft YaHei"/>
              </a:rPr>
              <a:t>OAuth Bearer：`Authorization: Bearer &lt;token&gt;`</a:t>
            </a:r>
          </a:p>
          <a:p>
            <a:pPr/>
            <a:r>
              <a:rPr sz="2200">
                <a:latin typeface="Microsoft YaHei"/>
              </a:rPr>
              <a:t>角色映射基于 `UserRoleMapper`，可按 ARN/账号/主体类型映射 ES 角色。</a:t>
            </a:r>
          </a:p>
          <a:p>
            <a:pPr/>
            <a:r>
              <a:rPr sz="2200">
                <a:latin typeface="Microsoft YaHei"/>
              </a:rPr>
              <a:t>元数据透出 `cloud_arn/cloud_account/cloud_principal_type`，便于统一授权策略。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2-2: SDK 访问 ES（RAM 用户/角色）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SDK 使用 RAM AK/SK（或 STS 临时凭证）生成签名参数。</a:t>
            </a:r>
          </a:p>
          <a:p>
            <a:pPr/>
            <a:r>
              <a:rPr sz="2200">
                <a:latin typeface="Microsoft YaHei"/>
              </a:rPr>
              <a:t>ES 侧 `AliyunStsClient` 调用 `GetCallerIdentity` 验证身份。</a:t>
            </a:r>
          </a:p>
          <a:p>
            <a:pPr/>
            <a:r>
              <a:rPr sz="2200">
                <a:latin typeface="Microsoft YaHei"/>
              </a:rPr>
              <a:t>解析 ARN -&gt; PrincipalType（`USER/ROLE/ASSUMED_ROLE`）-&gt; 角色映射 -&gt; 发放 ES User。</a:t>
            </a:r>
          </a:p>
          <a:p>
            <a:pPr/>
            <a:r>
              <a:rPr sz="2200">
                <a:latin typeface="Microsoft YaHei"/>
              </a:rPr>
              <a:t>**特点**：</a:t>
            </a:r>
          </a:p>
          <a:p>
            <a:pPr/>
            <a:r>
              <a:rPr sz="2200">
                <a:latin typeface="Microsoft YaHei"/>
              </a:rPr>
              <a:t>适合服务间访问、自动化任务、脚本与平台 SDK。</a:t>
            </a:r>
          </a:p>
          <a:p>
            <a:pPr/>
            <a:r>
              <a:rPr sz="2200">
                <a:latin typeface="Microsoft YaHei"/>
              </a:rPr>
              <a:t>与阿里云 STS 语义对齐，角色会话可控。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2-3: SSO 访问 ES（经 IDaaS）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推荐链路（企业统一身份）：</a:t>
            </a:r>
          </a:p>
          <a:p>
            <a:pPr/>
            <a:r>
              <a:rPr sz="2200">
                <a:latin typeface="Microsoft YaHei"/>
              </a:rPr>
              <a:t>LDAP 用户在 IDaaS 登录（SAML Role SSO）</a:t>
            </a:r>
          </a:p>
          <a:p>
            <a:pPr/>
            <a:r>
              <a:rPr sz="2200">
                <a:latin typeface="Microsoft YaHei"/>
              </a:rPr>
              <a:t>IDaaS 将用户映射到 RAM 角色</a:t>
            </a:r>
          </a:p>
          <a:p>
            <a:pPr/>
            <a:r>
              <a:rPr sz="2200">
                <a:latin typeface="Microsoft YaHei"/>
              </a:rPr>
              <a:t>用户/网关拿到该角色临时凭证</a:t>
            </a:r>
          </a:p>
          <a:p>
            <a:pPr/>
            <a:r>
              <a:rPr sz="2200">
                <a:latin typeface="Microsoft YaHei"/>
              </a:rPr>
              <a:t>使用签名请求访问 ES（`X-ES-IAM-Signed`）</a:t>
            </a:r>
          </a:p>
          <a:p>
            <a:pPr/>
            <a:r>
              <a:rPr sz="2200">
                <a:latin typeface="Microsoft YaHei"/>
              </a:rPr>
              <a:t>Cloud IAM Realm 完成鉴权与 ES 角色映射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2-3: SSO 访问 ES（经 IDaaS）（续）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**结果**：同一身份源（LDAP）可同时访问阿里云资源与 ES。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2-4: `../ldap-demo` 的关键价值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解决“LDAP 在隔离内网、IDaaS 无法入站直连”的现实问题。</a:t>
            </a:r>
          </a:p>
          <a:p>
            <a:pPr/>
            <a:r>
              <a:rPr sz="2200">
                <a:latin typeface="Microsoft YaHei"/>
              </a:rPr>
              <a:t>通过 `idaas-ldap-connector` 实现：</a:t>
            </a:r>
          </a:p>
          <a:p>
            <a:pPr/>
            <a:r>
              <a:rPr sz="2200">
                <a:latin typeface="Microsoft YaHei"/>
              </a:rPr>
              <a:t>Agent 主动读取 LDAP</a:t>
            </a:r>
          </a:p>
          <a:p>
            <a:pPr/>
            <a:r>
              <a:rPr sz="2200">
                <a:latin typeface="Microsoft YaHei"/>
              </a:rPr>
              <a:t>通过出站 HTTPS（SCIM 2.0）同步到 IDaaS</a:t>
            </a:r>
          </a:p>
          <a:p>
            <a:pPr/>
            <a:r>
              <a:rPr sz="2200">
                <a:latin typeface="Microsoft YaHei"/>
              </a:rPr>
              <a:t>支持定时同步、属性映射、用户/组同步</a:t>
            </a:r>
          </a:p>
          <a:p>
            <a:pPr/>
            <a:r>
              <a:rPr sz="2200">
                <a:latin typeface="Microsoft YaHei"/>
              </a:rPr>
              <a:t>**架构优势**：只需内网到公网出站能力，不要求 IDaaS 对内网发起连接。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2-5: 单一 RAM 角色映射模型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在 IDaaS 应用账户中，为 LDAP 用户配置统一的 RAM 角色标识：</a:t>
            </a:r>
          </a:p>
          <a:p>
            <a:pPr/>
            <a:r>
              <a:rPr sz="2200">
                <a:latin typeface="Microsoft YaHei"/>
              </a:rPr>
              <a:t>`role-arn,provider-arn`</a:t>
            </a:r>
          </a:p>
          <a:p>
            <a:pPr/>
            <a:r>
              <a:rPr sz="2200">
                <a:latin typeface="Microsoft YaHei"/>
              </a:rPr>
              <a:t>示例模式：多个 LDAP 用户 -&gt; 同一个 RAM 角色</a:t>
            </a:r>
          </a:p>
          <a:p>
            <a:pPr/>
            <a:r>
              <a:rPr sz="2200">
                <a:latin typeface="Microsoft YaHei"/>
              </a:rPr>
              <a:t>这样可实现：</a:t>
            </a:r>
          </a:p>
          <a:p>
            <a:pPr/>
            <a:r>
              <a:rPr sz="2200">
                <a:latin typeface="Microsoft YaHei"/>
              </a:rPr>
              <a:t>控制台 SSO 统一权限面</a:t>
            </a:r>
          </a:p>
          <a:p>
            <a:pPr/>
            <a:r>
              <a:rPr sz="2200">
                <a:latin typeface="Microsoft YaHei"/>
              </a:rPr>
              <a:t>SDK 访问策略一致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2-5: 单一 RAM 角色映射模型（续）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ES 侧继续用 Cloud IAM realm 做精细角色映射（按 ARN 或 metadata）</a:t>
            </a:r>
          </a:p>
          <a:p>
            <a:pPr/>
            <a:r>
              <a:rPr sz="2200">
                <a:latin typeface="Microsoft YaHei"/>
              </a:rPr>
              <a:t>**组织收益**：身份收敛、权限模型收敛、审计路径收敛。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2-6: 现实限制与演进建议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已识别限制</a:t>
            </a:r>
          </a:p>
          <a:p>
            <a:pPr/>
            <a:r>
              <a:rPr sz="2200">
                <a:latin typeface="Microsoft YaHei"/>
              </a:rPr>
              <a:t>Cloud IAM OAuth 路径对 assumed-role 识别仍弱于 STS 路径（文档已标注）。</a:t>
            </a:r>
          </a:p>
          <a:p>
            <a:pPr/>
            <a:r>
              <a:rPr sz="2200">
                <a:latin typeface="Microsoft YaHei"/>
              </a:rPr>
              <a:t>`../ldap-demo` 文档存在 OIDC 与 SAML 并存历史，当前应以 SAML Role SSO 为主线。</a:t>
            </a:r>
          </a:p>
          <a:p>
            <a:pPr/>
            <a:r>
              <a:rPr sz="2200">
                <a:latin typeface="Microsoft YaHei"/>
              </a:rPr>
              <a:t>建议</a:t>
            </a:r>
          </a:p>
          <a:p>
            <a:pPr/>
            <a:r>
              <a:rPr sz="2200">
                <a:latin typeface="Microsoft YaHei"/>
              </a:rPr>
              <a:t>生产上优先 STS 签名路径承载 ES SDK 访问。</a:t>
            </a:r>
          </a:p>
          <a:p>
            <a:pPr/>
            <a:r>
              <a:rPr sz="2200">
                <a:latin typeface="Microsoft YaHei"/>
              </a:rPr>
              <a:t>将 OIDC 路径定位为补充能力，补齐 assumed-role parity 后再主推。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2-6: 现实限制与演进建议（续）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统一文档口径，避免实施团队混用 OIDC 与 SAML 配置模板。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落地演示建议（可直接 Tech Share Live Demo）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演示 shard-aware 索引配置与 `sharding_strategy` 切换。</a:t>
            </a:r>
          </a:p>
          <a:p>
            <a:pPr/>
            <a:r>
              <a:rPr sz="2200">
                <a:latin typeface="Microsoft YaHei"/>
              </a:rPr>
              <a:t>演示 `lance_knn` 的 `nprobes` 与 term filter 下推。</a:t>
            </a:r>
          </a:p>
          <a:p>
            <a:pPr/>
            <a:r>
              <a:rPr sz="2200">
                <a:latin typeface="Microsoft YaHei"/>
              </a:rPr>
              <a:t>调用 `POST /_lance/refresh` + `GET /_lance/stats` 观察刷新与缓存行为。</a:t>
            </a:r>
          </a:p>
          <a:p>
            <a:pPr/>
            <a:r>
              <a:rPr sz="2200">
                <a:latin typeface="Microsoft YaHei"/>
              </a:rPr>
              <a:t>演示 Cloud IAM STS 签名访问 `/_security/_authenticate`。</a:t>
            </a:r>
          </a:p>
          <a:p>
            <a:pPr/>
            <a:r>
              <a:rPr sz="2200">
                <a:latin typeface="Microsoft YaHei"/>
              </a:rPr>
              <a:t>演示 IDaaS 应用账户把 LDAP 用户映射到统一 RAM 角色后的登录链路。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证据索引（建议讲解时备用）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Lance Vector（主仓库）</a:t>
            </a:r>
          </a:p>
          <a:p>
            <a:pPr/>
            <a:r>
              <a:rPr sz="2200">
                <a:latin typeface="Microsoft YaHei"/>
              </a:rPr>
              <a:t>多分片/路由：`plugins/lance-vector/src/main/java/org/elasticsearch/plugin/lance/query/LanceKnnQuery.java`</a:t>
            </a:r>
          </a:p>
          <a:p>
            <a:pPr/>
            <a:r>
              <a:rPr sz="2200">
                <a:latin typeface="Microsoft YaHei"/>
              </a:rPr>
              <a:t>存储配置：`plugins/lance-vector/src/main/java/org/elasticsearch/plugin/lance/mapper/LanceStorageConfig.java`</a:t>
            </a:r>
          </a:p>
          <a:p>
            <a:pPr/>
            <a:r>
              <a:rPr sz="2200">
                <a:latin typeface="Microsoft YaHei"/>
              </a:rPr>
              <a:t>refresh 启停与 REST 注册：`plugins/lance-vector/src/main/java/org/elasticsearch/plugin/lance/LanceVectorPlugin.java`</a:t>
            </a:r>
          </a:p>
          <a:p>
            <a:pPr/>
            <a:r>
              <a:rPr sz="2200">
                <a:latin typeface="Microsoft YaHei"/>
              </a:rPr>
              <a:t>refresh 服务：`plugins/lance-vector/src/main/java/org/elasticsearch/plugin/lance/storage/LanceRefreshService.java`</a:t>
            </a:r>
          </a:p>
          <a:p>
            <a:pPr/>
            <a:r>
              <a:rPr sz="2200">
                <a:latin typeface="Microsoft YaHei"/>
              </a:rPr>
              <a:t>并发锁：`plugins/lance-vector/src/main/java/org/elasticsearch/plugin/lance/storage/LanceDatasetRegistry.java`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证据索引（建议讲解时备用）（续）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filter 转换：`plugins/lance-vector/src/main/java/org/elasticsearch/plugin/lance/query/EsToLanceFilterConverter.java`</a:t>
            </a:r>
          </a:p>
          <a:p>
            <a:pPr/>
            <a:r>
              <a:rPr sz="2200">
                <a:latin typeface="Microsoft YaHei"/>
              </a:rPr>
              <a:t>Cloud IAM（主仓库）</a:t>
            </a:r>
          </a:p>
          <a:p>
            <a:pPr/>
            <a:r>
              <a:rPr sz="2200">
                <a:latin typeface="Microsoft YaHei"/>
              </a:rPr>
              <a:t>Realm 主逻辑：`plugins/security-realm-cloud-iam/src/main/java/org/elasticsearch/plugin/security/cloudiam/CloudIamRealm.java`</a:t>
            </a:r>
          </a:p>
          <a:p>
            <a:pPr/>
            <a:r>
              <a:rPr sz="2200">
                <a:latin typeface="Microsoft YaHei"/>
              </a:rPr>
              <a:t>STS 校验：`plugins/security-realm-cloud-iam/src/main/java/org/elasticsearch/plugin/security/cloudiam/AliyunStsClient.java`</a:t>
            </a:r>
          </a:p>
          <a:p>
            <a:pPr/>
            <a:r>
              <a:rPr sz="2200">
                <a:latin typeface="Microsoft YaHei"/>
              </a:rPr>
              <a:t>OAuth 校验：`plugins/security-realm-cloud-iam/src/main/java/org/elasticsearch/plugin/security/cloudiam/OAuthTokenValidator.java`</a:t>
            </a:r>
          </a:p>
          <a:p>
            <a:pPr/>
            <a:r>
              <a:rPr sz="2200">
                <a:latin typeface="Microsoft YaHei"/>
              </a:rPr>
              <a:t>限制说明：`plugins/security-realm-cloud-iam/LIMITATION.md`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证据索引（建议讲解时备用）（续）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IDaaS/LDAP（`../ldap-demo`）</a:t>
            </a:r>
          </a:p>
          <a:p>
            <a:pPr/>
            <a:r>
              <a:rPr sz="2200">
                <a:latin typeface="Microsoft YaHei"/>
              </a:rPr>
              <a:t>总体说明：`../ldap-demo/README.md`</a:t>
            </a:r>
          </a:p>
          <a:p>
            <a:pPr/>
            <a:r>
              <a:rPr sz="2200">
                <a:latin typeface="Microsoft YaHei"/>
              </a:rPr>
              <a:t>SAML 架构说明：`../ldap-demo/docs/2026-02-07-SAML_架构说明.md`</a:t>
            </a:r>
          </a:p>
          <a:p>
            <a:pPr/>
            <a:r>
              <a:rPr sz="2200">
                <a:latin typeface="Microsoft YaHei"/>
              </a:rPr>
              <a:t>SAML 配置指南：`../ldap-demo/docs/IDAAS_SAML_RoleSSO_设置指南.md`</a:t>
            </a:r>
          </a:p>
          <a:p>
            <a:pPr/>
            <a:r>
              <a:rPr sz="2200">
                <a:latin typeface="Microsoft YaHei"/>
              </a:rPr>
              <a:t>连接器实现：`../ldap-demo/idaas-ldap-connector/README.md`</a:t>
            </a:r>
          </a:p>
          <a:p>
            <a:pPr/>
            <a:r>
              <a:rPr sz="2200">
                <a:latin typeface="Microsoft YaHei"/>
              </a:rPr>
              <a:t>连接器主程序：`../ldap-demo/idaas-ldap-connector/agent.py`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证据索引（建议讲解时备用）（续）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E2E 校验：`../ldap-demo/validate-sso-e2e.py`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