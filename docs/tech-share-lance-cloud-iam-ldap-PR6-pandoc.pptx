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Lance</a:t>
            </a:r>
            <a:r>
              <a:rPr/>
              <a:t> </a:t>
            </a:r>
            <a:r>
              <a:rPr/>
              <a:t>Vector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Cloud</a:t>
            </a:r>
            <a:r>
              <a:rPr/>
              <a:t> </a:t>
            </a:r>
            <a:r>
              <a:rPr/>
              <a:t>IAM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IDaaS(LDAP)</a:t>
            </a:r>
            <a:r>
              <a:rPr/>
              <a:t> </a:t>
            </a:r>
            <a:r>
              <a:rPr/>
              <a:t>技术分享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基于最新</a:t>
            </a:r>
            <a:r>
              <a:rPr/>
              <a:t> </a:t>
            </a:r>
            <a:r>
              <a:rPr/>
              <a:t>PR</a:t>
            </a:r>
            <a:r>
              <a:rPr/>
              <a:t> </a:t>
            </a:r>
            <a:r>
              <a:rPr/>
              <a:t>#6</a:t>
            </a:r>
            <a:r>
              <a:rPr/>
              <a:t> </a:t>
            </a:r>
            <a:r>
              <a:rPr/>
              <a:t>与双项目联读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主仓库：</a:t>
            </a:r>
            <a:r>
              <a:rPr>
                <a:latin typeface="Courier"/>
              </a:rPr>
              <a:t>es-9.2.4-plugins-rt-scale</a:t>
            </a:r>
          </a:p>
          <a:p>
            <a:pPr lvl="1"/>
            <a:r>
              <a:rPr/>
              <a:t>关联仓库：</a:t>
            </a:r>
            <a:r>
              <a:rPr>
                <a:latin typeface="Courier"/>
              </a:rPr>
              <a:t>../ldap-demo</a:t>
            </a:r>
          </a:p>
          <a:p>
            <a:pPr lvl="1"/>
            <a:r>
              <a:rPr/>
              <a:t>目标：统一说明向量检索链路与云身份链路，面向技术评审与团队宣讲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Part 1: Lance Vector</a:t>
            </a:r>
          </a:p>
          <a:p>
            <a:pPr lvl="1">
              <a:buAutoNum type="arabicPeriod"/>
            </a:pPr>
            <a:r>
              <a:rPr/>
              <a:t>多分片支持</a:t>
            </a:r>
          </a:p>
          <a:p>
            <a:pPr lvl="1">
              <a:buAutoNum type="arabicPeriod"/>
            </a:pPr>
            <a:r>
              <a:rPr/>
              <a:t>NRT 刷新机制</a:t>
            </a:r>
          </a:p>
          <a:p>
            <a:pPr lvl="1">
              <a:buAutoNum type="arabicPeriod"/>
            </a:pPr>
            <a:r>
              <a:rPr/>
              <a:t>Prefilter（过滤下推 + 策略）</a:t>
            </a:r>
          </a:p>
          <a:p>
            <a:pPr lvl="1">
              <a:buAutoNum type="arabicPeriod"/>
            </a:pPr>
            <a:r>
              <a:rPr/>
              <a:t>高层架构与数据流（数据湖优先）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Part 2: Cloud IAM + IDaaS</a:t>
            </a:r>
          </a:p>
          <a:p>
            <a:pPr lvl="1">
              <a:buAutoNum type="arabicPeriod"/>
            </a:pPr>
            <a:r>
              <a:rPr/>
              <a:t>Cloud IAM 支持 SSO 与 SDK 访问 ES</a:t>
            </a:r>
          </a:p>
          <a:p>
            <a:pPr lvl="1">
              <a:buAutoNum type="arabicPeriod"/>
            </a:pPr>
            <a:r>
              <a:rPr/>
              <a:t>通过 IDaaS（</a:t>
            </a:r>
            <a:r>
              <a:rPr>
                <a:latin typeface="Courier"/>
              </a:rPr>
              <a:t>../ldap-demo</a:t>
            </a:r>
            <a:r>
              <a:rPr/>
              <a:t>）把 LDAP 账户打通到阿里云与 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1-1:</a:t>
            </a:r>
            <a:r>
              <a:rPr/>
              <a:t> </a:t>
            </a:r>
            <a:r>
              <a:rPr/>
              <a:t>多分片支持（配置模型）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lance_vector.storage</a:t>
            </a:r>
            <a:r>
              <a:rPr/>
              <a:t> 同时支持两类模式：</a:t>
            </a:r>
          </a:p>
          <a:p>
            <a:pPr lvl="1"/>
            <a:r>
              <a:rPr/>
              <a:t>Legacy 单 URI：</a:t>
            </a:r>
            <a:r>
              <a:rPr>
                <a:latin typeface="Courier"/>
              </a:rPr>
              <a:t>storage.uri</a:t>
            </a:r>
          </a:p>
          <a:p>
            <a:pPr lvl="1"/>
            <a:r>
              <a:rPr/>
              <a:t>Shard-aware：</a:t>
            </a:r>
            <a:r>
              <a:rPr>
                <a:latin typeface="Courier"/>
              </a:rPr>
              <a:t>storage.uri_prefix + shard_path + dataset_name</a:t>
            </a:r>
          </a:p>
          <a:p>
            <a:pPr lvl="1"/>
            <a:r>
              <a:rPr>
                <a:latin typeface="Courier"/>
              </a:rPr>
              <a:t>sharding_strategy</a:t>
            </a:r>
            <a:r>
              <a:rPr/>
              <a:t> 支持：</a:t>
            </a:r>
          </a:p>
          <a:p>
            <a:pPr lvl="1"/>
            <a:r>
              <a:rPr>
                <a:latin typeface="Courier"/>
              </a:rPr>
              <a:t>NONE</a:t>
            </a:r>
            <a:r>
              <a:rPr/>
              <a:t>：不做候选分片过滤</a:t>
            </a:r>
          </a:p>
          <a:p>
            <a:pPr lvl="1"/>
            <a:r>
              <a:rPr>
                <a:latin typeface="Courier"/>
              </a:rPr>
              <a:t>ES_ROUTING</a:t>
            </a:r>
            <a:r>
              <a:rPr/>
              <a:t>：按 ES 路由算法过滤候选</a:t>
            </a:r>
          </a:p>
          <a:p>
            <a:pPr lvl="1"/>
            <a:r>
              <a:rPr/>
              <a:t>默认行为：</a:t>
            </a:r>
          </a:p>
          <a:p>
            <a:pPr lvl="1"/>
            <a:r>
              <a:rPr/>
              <a:t>shard-aware 默认 </a:t>
            </a:r>
            <a:r>
              <a:rPr>
                <a:latin typeface="Courier"/>
              </a:rPr>
              <a:t>ES_ROUTING</a:t>
            </a:r>
          </a:p>
          <a:p>
            <a:pPr lvl="1"/>
            <a:r>
              <a:rPr/>
              <a:t>legacy 默认 </a:t>
            </a:r>
            <a:r>
              <a:rPr>
                <a:latin typeface="Courier"/>
              </a:rPr>
              <a:t>NONE</a:t>
            </a:r>
          </a:p>
          <a:p>
            <a:pPr lvl="0" marL="0" indent="0">
              <a:buNone/>
            </a:pPr>
            <a:r>
              <a:rPr b="1"/>
              <a:t>价值</a:t>
            </a:r>
            <a:r>
              <a:rPr/>
              <a:t>：同一套查询 DSL，既能兼容历史单数据集，也能平滑升级到分片级数据集。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1-2:</a:t>
            </a:r>
            <a:r>
              <a:rPr/>
              <a:t> </a:t>
            </a:r>
            <a:r>
              <a:rPr/>
              <a:t>多分片支持（查询执行）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查询阶段会先 </a:t>
            </a:r>
            <a:r>
              <a:rPr>
                <a:latin typeface="Courier"/>
              </a:rPr>
              <a:t>resolveUri(index, shard)</a:t>
            </a:r>
            <a:r>
              <a:rPr/>
              <a:t> 决定当前分片应访问的数据集 URI。</a:t>
            </a:r>
          </a:p>
          <a:p>
            <a:pPr lvl="1"/>
            <a:r>
              <a:rPr/>
              <a:t>分片过滤逻辑用 ES Murmur3 路由计算候选归属分片。</a:t>
            </a:r>
          </a:p>
          <a:p>
            <a:pPr lvl="1"/>
            <a:r>
              <a:rPr/>
              <a:t>关键正确性修复：</a:t>
            </a:r>
          </a:p>
          <a:p>
            <a:pPr lvl="1"/>
            <a:r>
              <a:rPr/>
              <a:t>用 </a:t>
            </a:r>
            <a:r>
              <a:rPr>
                <a:latin typeface="Courier"/>
              </a:rPr>
              <a:t>Math.floorMod(hash, numRoutingShards)</a:t>
            </a:r>
            <a:r>
              <a:rPr/>
              <a:t> 代替 </a:t>
            </a:r>
            <a:r>
              <a:rPr>
                <a:latin typeface="Courier"/>
              </a:rPr>
              <a:t>Math.abs(hash) % n</a:t>
            </a:r>
          </a:p>
          <a:p>
            <a:pPr lvl="1"/>
            <a:r>
              <a:rPr/>
              <a:t>避免 </a:t>
            </a:r>
            <a:r>
              <a:rPr>
                <a:latin typeface="Courier"/>
              </a:rPr>
              <a:t>Integer.MIN_VALUE</a:t>
            </a:r>
            <a:r>
              <a:rPr/>
              <a:t> 边界下的负分片错误</a:t>
            </a:r>
          </a:p>
          <a:p>
            <a:pPr lvl="0" marL="0" indent="0">
              <a:buNone/>
            </a:pPr>
            <a:r>
              <a:rPr b="1"/>
              <a:t>结论</a:t>
            </a:r>
            <a:r>
              <a:rPr/>
              <a:t>：跨分片候选过滤从“可能误丢”变成“路由语义一致”。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1-3:</a:t>
            </a:r>
            <a:r>
              <a:rPr/>
              <a:t> </a:t>
            </a:r>
            <a:r>
              <a:rPr/>
              <a:t>NRT</a:t>
            </a:r>
            <a:r>
              <a:rPr/>
              <a:t> </a:t>
            </a:r>
            <a:r>
              <a:rPr/>
              <a:t>刷新（自动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手动）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插件层已提供：</a:t>
            </a:r>
          </a:p>
          <a:p>
            <a:pPr lvl="1"/>
            <a:r>
              <a:rPr/>
              <a:t>自动刷新开关：</a:t>
            </a:r>
            <a:r>
              <a:rPr>
                <a:latin typeface="Courier"/>
              </a:rPr>
              <a:t>lance.refresh.enabled</a:t>
            </a:r>
            <a:r>
              <a:rPr/>
              <a:t>（默认 true）</a:t>
            </a:r>
          </a:p>
          <a:p>
            <a:pPr lvl="1"/>
            <a:r>
              <a:rPr/>
              <a:t>刷新间隔：</a:t>
            </a:r>
            <a:r>
              <a:rPr>
                <a:latin typeface="Courier"/>
              </a:rPr>
              <a:t>lance.refresh.interval</a:t>
            </a:r>
            <a:r>
              <a:rPr/>
              <a:t>（默认 30s）</a:t>
            </a:r>
          </a:p>
          <a:p>
            <a:pPr lvl="1"/>
            <a:r>
              <a:rPr/>
              <a:t>在 </a:t>
            </a:r>
            <a:r>
              <a:rPr>
                <a:latin typeface="Courier"/>
              </a:rPr>
              <a:t>createComponents()</a:t>
            </a:r>
            <a:r>
              <a:rPr/>
              <a:t> 中按开关启动 refresh service</a:t>
            </a:r>
          </a:p>
          <a:p>
            <a:pPr lvl="1"/>
            <a:r>
              <a:rPr/>
              <a:t>REST 手动刷新已暴露：</a:t>
            </a:r>
            <a:r>
              <a:rPr>
                <a:latin typeface="Courier"/>
              </a:rPr>
              <a:t>POST /_lance/refresh</a:t>
            </a:r>
          </a:p>
          <a:p>
            <a:pPr lvl="1"/>
            <a:r>
              <a:rPr/>
              <a:t>统计接口：</a:t>
            </a:r>
            <a:r>
              <a:rPr>
                <a:latin typeface="Courier"/>
              </a:rPr>
              <a:t>GET /_lance/stats</a:t>
            </a:r>
          </a:p>
          <a:p>
            <a:pPr lvl="0" marL="0" indent="0">
              <a:buNone/>
            </a:pPr>
            <a:r>
              <a:rPr b="1"/>
              <a:t>运维含义</a:t>
            </a:r>
            <a:r>
              <a:rPr/>
              <a:t>：可以“定时失效重载 + 人工强制刷新”双路径保障可观测的最终一致。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1-4:</a:t>
            </a:r>
            <a:r>
              <a:rPr/>
              <a:t> </a:t>
            </a:r>
            <a:r>
              <a:rPr/>
              <a:t>NRT</a:t>
            </a:r>
            <a:r>
              <a:rPr/>
              <a:t> </a:t>
            </a:r>
            <a:r>
              <a:rPr/>
              <a:t>并发安全（避免刷新误伤查询）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刷新本质是 </a:t>
            </a:r>
            <a:r>
              <a:rPr>
                <a:latin typeface="Courier"/>
              </a:rPr>
              <a:t>LanceDatasetRegistry.clear()/invalidate()</a:t>
            </a:r>
            <a:r>
              <a:rPr/>
              <a:t>，会触发 dataset close。</a:t>
            </a:r>
          </a:p>
          <a:p>
            <a:pPr lvl="1"/>
            <a:r>
              <a:rPr/>
              <a:t>当前实现引入查询-刷新读写锁：</a:t>
            </a:r>
          </a:p>
          <a:p>
            <a:pPr lvl="1"/>
            <a:r>
              <a:rPr/>
              <a:t>查询路径：</a:t>
            </a:r>
            <a:r>
              <a:rPr>
                <a:latin typeface="Courier"/>
              </a:rPr>
              <a:t>withSearchLock()</a:t>
            </a:r>
            <a:r>
              <a:rPr/>
              <a:t>（读锁）</a:t>
            </a:r>
          </a:p>
          <a:p>
            <a:pPr lvl="1"/>
            <a:r>
              <a:rPr/>
              <a:t>刷新路径：</a:t>
            </a:r>
            <a:r>
              <a:rPr>
                <a:latin typeface="Courier"/>
              </a:rPr>
              <a:t>withRefreshLock()</a:t>
            </a:r>
            <a:r>
              <a:rPr/>
              <a:t>（写锁）</a:t>
            </a:r>
          </a:p>
          <a:p>
            <a:pPr lvl="1"/>
            <a:r>
              <a:rPr/>
              <a:t>效果：</a:t>
            </a:r>
          </a:p>
          <a:p>
            <a:pPr lvl="1"/>
            <a:r>
              <a:rPr/>
              <a:t>刷新会等待在途查询释放读锁</a:t>
            </a:r>
          </a:p>
          <a:p>
            <a:pPr lvl="1"/>
            <a:r>
              <a:rPr/>
              <a:t>避免“查询执行中 dataset 被关闭”的并发故障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1-5:</a:t>
            </a:r>
            <a:r>
              <a:rPr/>
              <a:t> </a:t>
            </a:r>
            <a:r>
              <a:rPr/>
              <a:t>Prefilter（过滤下推）机制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field_mapping</a:t>
            </a:r>
            <a:r>
              <a:rPr/>
              <a:t> 支持 ES 字段到 Lance 列映射。</a:t>
            </a:r>
          </a:p>
          <a:p>
            <a:pPr lvl="1"/>
            <a:r>
              <a:rPr>
                <a:latin typeface="Courier"/>
              </a:rPr>
              <a:t>EsToLanceFilterConverter</a:t>
            </a:r>
            <a:r>
              <a:rPr/>
              <a:t> 当前 v1 主要支持 </a:t>
            </a:r>
            <a:r>
              <a:rPr>
                <a:latin typeface="Courier"/>
              </a:rPr>
              <a:t>TermQuery -&gt; SQL</a:t>
            </a:r>
            <a:r>
              <a:rPr/>
              <a:t>。</a:t>
            </a:r>
          </a:p>
          <a:p>
            <a:pPr lvl="1"/>
            <a:r>
              <a:rPr/>
              <a:t>查询执行顺序：</a:t>
            </a:r>
          </a:p>
          <a:p>
            <a:pPr lvl="1"/>
            <a:r>
              <a:rPr/>
              <a:t>尝试把 filter 转 SQL</a:t>
            </a:r>
          </a:p>
          <a:p>
            <a:pPr lvl="1"/>
            <a:r>
              <a:rPr/>
              <a:t>可转则 SQL 下推到 Lance (</a:t>
            </a:r>
            <a:r>
              <a:rPr>
                <a:latin typeface="Courier"/>
              </a:rPr>
              <a:t>ScanOptions.filter</a:t>
            </a:r>
            <a:r>
              <a:rPr/>
              <a:t>)</a:t>
            </a:r>
          </a:p>
          <a:p>
            <a:pPr lvl="1"/>
            <a:r>
              <a:rPr/>
              <a:t>不可转则回退 ES 后过滤（不牺牲正确性）</a:t>
            </a:r>
          </a:p>
          <a:p>
            <a:pPr lvl="1"/>
            <a:r>
              <a:rPr/>
              <a:t>SQL 值做单引号转义，降低注入风险。</a:t>
            </a:r>
          </a:p>
          <a:p>
            <a:pPr lvl="0" marL="0" indent="0">
              <a:buNone/>
            </a:pPr>
            <a:r>
              <a:rPr b="1"/>
              <a:t>设计原则</a:t>
            </a:r>
            <a:r>
              <a:rPr/>
              <a:t>：</a:t>
            </a:r>
            <a:r>
              <a:rPr>
                <a:latin typeface="Courier"/>
              </a:rPr>
              <a:t>try pushdown -&gt; fallback</a:t>
            </a:r>
            <a:r>
              <a:rPr/>
              <a:t>，优先正确，再追性能。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1-6:</a:t>
            </a:r>
            <a:r>
              <a:rPr/>
              <a:t> </a:t>
            </a:r>
            <a:r>
              <a:rPr/>
              <a:t>Prefilter</a:t>
            </a:r>
            <a:r>
              <a:rPr/>
              <a:t> </a:t>
            </a:r>
            <a:r>
              <a:rPr/>
              <a:t>与</a:t>
            </a:r>
            <a:r>
              <a:rPr/>
              <a:t> </a:t>
            </a:r>
            <a:r>
              <a:rPr/>
              <a:t>nprobes</a:t>
            </a:r>
            <a:r>
              <a:rPr/>
              <a:t> </a:t>
            </a:r>
            <a:r>
              <a:rPr/>
              <a:t>的语义一致性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lance_knn</a:t>
            </a:r>
            <a:r>
              <a:rPr/>
              <a:t> 的 </a:t>
            </a:r>
            <a:r>
              <a:rPr>
                <a:latin typeface="Courier"/>
              </a:rPr>
              <a:t>nprobes</a:t>
            </a:r>
            <a:r>
              <a:rPr/>
              <a:t> 已打通到执行层。</a:t>
            </a:r>
          </a:p>
          <a:p>
            <a:pPr lvl="1"/>
            <a:r>
              <a:rPr>
                <a:latin typeface="Courier"/>
              </a:rPr>
              <a:t>LanceKnnQueryBuilder</a:t>
            </a:r>
            <a:r>
              <a:rPr/>
              <a:t> 解析 </a:t>
            </a:r>
            <a:r>
              <a:rPr>
                <a:latin typeface="Courier"/>
              </a:rPr>
              <a:t>nprobes</a:t>
            </a:r>
            <a:r>
              <a:rPr/>
              <a:t> 后透传到 </a:t>
            </a:r>
            <a:r>
              <a:rPr>
                <a:latin typeface="Courier"/>
              </a:rPr>
              <a:t>LanceKnnQuery</a:t>
            </a:r>
            <a:r>
              <a:rPr/>
              <a:t>。</a:t>
            </a:r>
          </a:p>
          <a:p>
            <a:pPr lvl="1"/>
            <a:r>
              <a:rPr/>
              <a:t>关键修复：nprobes/pushdown 路径不再强制 </a:t>
            </a:r>
            <a:r>
              <a:rPr>
                <a:latin typeface="Courier"/>
              </a:rPr>
              <a:t>cosine</a:t>
            </a:r>
            <a:r>
              <a:rPr/>
              <a:t>，而是保持 mapping 配置的 </a:t>
            </a:r>
            <a:r>
              <a:rPr>
                <a:latin typeface="Courier"/>
              </a:rPr>
              <a:t>similarity</a:t>
            </a:r>
            <a:r>
              <a:rPr/>
              <a:t>（</a:t>
            </a:r>
            <a:r>
              <a:rPr>
                <a:latin typeface="Courier"/>
              </a:rPr>
              <a:t>cosine/dot_product/l2</a:t>
            </a:r>
            <a:r>
              <a:rPr/>
              <a:t>）。</a:t>
            </a:r>
          </a:p>
          <a:p>
            <a:pPr lvl="0" marL="0" indent="0">
              <a:buNone/>
            </a:pPr>
            <a:r>
              <a:rPr b="1"/>
              <a:t>收益</a:t>
            </a:r>
            <a:r>
              <a:rPr/>
              <a:t>： - 参数调优真实生效 - 避免“同一索引不同查询路径评分语义漂移”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1-7:</a:t>
            </a:r>
            <a:r>
              <a:rPr/>
              <a:t> </a:t>
            </a:r>
            <a:r>
              <a:rPr/>
              <a:t>高层架构数据流（当前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目标）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当前已落地（PR #6）</a:t>
            </a:r>
          </a:p>
          <a:p>
            <a:pPr lvl="1"/>
            <a:r>
              <a:rPr/>
              <a:t>以外部 Lance 数据集只读检索为主（</a:t>
            </a:r>
            <a:r>
              <a:rPr>
                <a:latin typeface="Courier"/>
              </a:rPr>
              <a:t>read_only</a:t>
            </a:r>
            <a:r>
              <a:rPr/>
              <a:t> 强约束）。</a:t>
            </a:r>
          </a:p>
          <a:p>
            <a:pPr lvl="1"/>
            <a:r>
              <a:rPr/>
              <a:t>查询路径：ES -&gt; Lance 检索候选 -&gt; </a:t>
            </a:r>
            <a:r>
              <a:rPr>
                <a:latin typeface="Courier"/>
              </a:rPr>
              <a:t>_id</a:t>
            </a:r>
            <a:r>
              <a:rPr/>
              <a:t> join -&gt; 返回 ES 命中。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目标态（设计文档方向）</a:t>
            </a:r>
          </a:p>
          <a:p>
            <a:pPr lvl="1"/>
            <a:r>
              <a:rPr/>
              <a:t>数据湖（Lance/S3）作为向量主存与 source-of-truth。</a:t>
            </a:r>
          </a:p>
          <a:p>
            <a:pPr lvl="1"/>
            <a:r>
              <a:rPr/>
              <a:t>写入优先进入 Lance（含向量列），再将非向量字段回填/索引到 ES。</a:t>
            </a:r>
          </a:p>
          <a:p>
            <a:pPr lvl="1"/>
            <a:r>
              <a:rPr/>
              <a:t>ES 保持过滤、聚合、权限、生态能力。</a:t>
            </a:r>
          </a:p>
          <a:p>
            <a:pPr lvl="0" marL="0" indent="0">
              <a:buNone/>
            </a:pPr>
            <a:r>
              <a:rPr b="1"/>
              <a:t>说明</a:t>
            </a:r>
            <a:r>
              <a:rPr/>
              <a:t>：第二部分是“架构目标与路线图”，不是当前分支已全部产品化完成。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1-8:</a:t>
            </a:r>
            <a:r>
              <a:rPr/>
              <a:t> </a:t>
            </a:r>
            <a:r>
              <a:rPr/>
              <a:t>为什么</a:t>
            </a:r>
            <a:r>
              <a:rPr/>
              <a:t>“</a:t>
            </a:r>
            <a:r>
              <a:rPr/>
              <a:t>数据湖优先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ES</a:t>
            </a:r>
            <a:r>
              <a:rPr/>
              <a:t> </a:t>
            </a:r>
            <a:r>
              <a:rPr/>
              <a:t>回填</a:t>
            </a:r>
            <a:r>
              <a:rPr/>
              <a:t>”</a:t>
            </a:r>
            <a:r>
              <a:rPr/>
              <a:t>值得做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成本：向量主数据留在对象存储，避免双份高成本存储。</a:t>
            </a:r>
          </a:p>
          <a:p>
            <a:pPr lvl="1"/>
            <a:r>
              <a:rPr/>
              <a:t>规模：数据湖天然更适合超大规模向量资产治理。</a:t>
            </a:r>
          </a:p>
          <a:p>
            <a:pPr lvl="1"/>
            <a:r>
              <a:rPr/>
              <a:t>语义：ES 专注检索编排、权限和非向量检索能力。</a:t>
            </a:r>
          </a:p>
          <a:p>
            <a:pPr lvl="1"/>
            <a:r>
              <a:rPr/>
              <a:t>可演进：后续可逐步增强写入一致性、刷新协议、回填策略。</a:t>
            </a:r>
          </a:p>
          <a:p>
            <a:pPr lvl="0" marL="0" indent="0">
              <a:buNone/>
            </a:pPr>
            <a:r>
              <a:rPr b="1"/>
              <a:t>一句话</a:t>
            </a:r>
            <a:r>
              <a:rPr/>
              <a:t>：把“向量存储”与“检索编排”解耦，才能兼顾规模、成本和功能。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2-1:</a:t>
            </a:r>
            <a:r>
              <a:rPr/>
              <a:t> </a:t>
            </a:r>
            <a:r>
              <a:rPr/>
              <a:t>Cloud</a:t>
            </a:r>
            <a:r>
              <a:rPr/>
              <a:t> </a:t>
            </a:r>
            <a:r>
              <a:rPr/>
              <a:t>IAM</a:t>
            </a:r>
            <a:r>
              <a:rPr/>
              <a:t> </a:t>
            </a:r>
            <a:r>
              <a:rPr/>
              <a:t>对</a:t>
            </a:r>
            <a:r>
              <a:rPr/>
              <a:t> </a:t>
            </a:r>
            <a:r>
              <a:rPr/>
              <a:t>ES</a:t>
            </a:r>
            <a:r>
              <a:rPr/>
              <a:t> </a:t>
            </a:r>
            <a:r>
              <a:rPr/>
              <a:t>的能力总览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Realm 类型：</a:t>
            </a:r>
            <a:r>
              <a:rPr>
                <a:latin typeface="Courier"/>
              </a:rPr>
              <a:t>cloud_iam</a:t>
            </a:r>
          </a:p>
          <a:p>
            <a:pPr lvl="1"/>
            <a:r>
              <a:rPr/>
              <a:t>两条认证入口：</a:t>
            </a:r>
          </a:p>
          <a:p>
            <a:pPr lvl="1"/>
            <a:r>
              <a:rPr/>
              <a:t>STS 签名头：</a:t>
            </a:r>
            <a:r>
              <a:rPr>
                <a:latin typeface="Courier"/>
              </a:rPr>
              <a:t>X-ES-IAM-Signed</a:t>
            </a:r>
          </a:p>
          <a:p>
            <a:pPr lvl="1"/>
            <a:r>
              <a:rPr/>
              <a:t>OAuth Bearer：</a:t>
            </a:r>
            <a:r>
              <a:rPr>
                <a:latin typeface="Courier"/>
              </a:rPr>
              <a:t>Authorization: Bearer &lt;token&gt;</a:t>
            </a:r>
          </a:p>
          <a:p>
            <a:pPr lvl="1"/>
            <a:r>
              <a:rPr/>
              <a:t>角色映射基于 </a:t>
            </a:r>
            <a:r>
              <a:rPr>
                <a:latin typeface="Courier"/>
              </a:rPr>
              <a:t>UserRoleMapper</a:t>
            </a:r>
            <a:r>
              <a:rPr/>
              <a:t>，可按 ARN/账号/主体类型映射 ES 角色。</a:t>
            </a:r>
          </a:p>
          <a:p>
            <a:pPr lvl="1"/>
            <a:r>
              <a:rPr/>
              <a:t>元数据透出 </a:t>
            </a:r>
            <a:r>
              <a:rPr>
                <a:latin typeface="Courier"/>
              </a:rPr>
              <a:t>cloud_arn/cloud_account/cloud_principal_type</a:t>
            </a:r>
            <a:r>
              <a:rPr/>
              <a:t>，便于统一授权策略。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2-2:</a:t>
            </a:r>
            <a:r>
              <a:rPr/>
              <a:t> </a:t>
            </a:r>
            <a:r>
              <a:rPr/>
              <a:t>SDK</a:t>
            </a:r>
            <a:r>
              <a:rPr/>
              <a:t> </a:t>
            </a:r>
            <a:r>
              <a:rPr/>
              <a:t>访问</a:t>
            </a:r>
            <a:r>
              <a:rPr/>
              <a:t> </a:t>
            </a:r>
            <a:r>
              <a:rPr/>
              <a:t>ES（RAM</a:t>
            </a:r>
            <a:r>
              <a:rPr/>
              <a:t> </a:t>
            </a:r>
            <a:r>
              <a:rPr/>
              <a:t>用户/角色）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SDK 使用 RAM AK/SK（或 STS 临时凭证）生成签名参数。</a:t>
            </a:r>
          </a:p>
          <a:p>
            <a:pPr lvl="1"/>
            <a:r>
              <a:rPr/>
              <a:t>ES 侧 </a:t>
            </a:r>
            <a:r>
              <a:rPr>
                <a:latin typeface="Courier"/>
              </a:rPr>
              <a:t>AliyunStsClient</a:t>
            </a:r>
            <a:r>
              <a:rPr/>
              <a:t> 调用 </a:t>
            </a:r>
            <a:r>
              <a:rPr>
                <a:latin typeface="Courier"/>
              </a:rPr>
              <a:t>GetCallerIdentity</a:t>
            </a:r>
            <a:r>
              <a:rPr/>
              <a:t> 验证身份。</a:t>
            </a:r>
          </a:p>
          <a:p>
            <a:pPr lvl="1"/>
            <a:r>
              <a:rPr/>
              <a:t>解析 ARN -&gt; PrincipalType（</a:t>
            </a:r>
            <a:r>
              <a:rPr>
                <a:latin typeface="Courier"/>
              </a:rPr>
              <a:t>USER/ROLE/ASSUMED_ROLE</a:t>
            </a:r>
            <a:r>
              <a:rPr/>
              <a:t>）-&gt; 角色映射 -&gt; 发放 ES User。</a:t>
            </a:r>
          </a:p>
          <a:p>
            <a:pPr lvl="0" marL="0" indent="0">
              <a:buNone/>
            </a:pPr>
            <a:r>
              <a:rPr b="1"/>
              <a:t>特点</a:t>
            </a:r>
            <a:r>
              <a:rPr/>
              <a:t>： - 适合服务间访问、自动化任务、脚本与平台 SDK。 - 与阿里云 STS 语义对齐，角色会话可控。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2-3:</a:t>
            </a:r>
            <a:r>
              <a:rPr/>
              <a:t> </a:t>
            </a:r>
            <a:r>
              <a:rPr/>
              <a:t>SSO</a:t>
            </a:r>
            <a:r>
              <a:rPr/>
              <a:t> </a:t>
            </a:r>
            <a:r>
              <a:rPr/>
              <a:t>访问</a:t>
            </a:r>
            <a:r>
              <a:rPr/>
              <a:t> </a:t>
            </a:r>
            <a:r>
              <a:rPr/>
              <a:t>ES（经</a:t>
            </a:r>
            <a:r>
              <a:rPr/>
              <a:t> </a:t>
            </a:r>
            <a:r>
              <a:rPr/>
              <a:t>IDaaS）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推荐链路（企业统一身份）：</a:t>
            </a:r>
          </a:p>
          <a:p>
            <a:pPr lvl="1">
              <a:buAutoNum type="arabicPeriod"/>
            </a:pPr>
            <a:r>
              <a:rPr/>
              <a:t>LDAP 用户在 IDaaS 登录（SAML Role SSO）</a:t>
            </a:r>
          </a:p>
          <a:p>
            <a:pPr lvl="1">
              <a:buAutoNum type="arabicPeriod"/>
            </a:pPr>
            <a:r>
              <a:rPr/>
              <a:t>IDaaS 将用户映射到 RAM 角色</a:t>
            </a:r>
          </a:p>
          <a:p>
            <a:pPr lvl="1">
              <a:buAutoNum type="arabicPeriod"/>
            </a:pPr>
            <a:r>
              <a:rPr/>
              <a:t>用户/网关拿到该角色临时凭证</a:t>
            </a:r>
          </a:p>
          <a:p>
            <a:pPr lvl="1">
              <a:buAutoNum type="arabicPeriod"/>
            </a:pPr>
            <a:r>
              <a:rPr/>
              <a:t>使用签名请求访问 ES（</a:t>
            </a:r>
            <a:r>
              <a:rPr>
                <a:latin typeface="Courier"/>
              </a:rPr>
              <a:t>X-ES-IAM-Signed</a:t>
            </a:r>
            <a:r>
              <a:rPr/>
              <a:t>）</a:t>
            </a:r>
          </a:p>
          <a:p>
            <a:pPr lvl="1">
              <a:buAutoNum type="arabicPeriod"/>
            </a:pPr>
            <a:r>
              <a:rPr/>
              <a:t>Cloud IAM Realm 完成鉴权与 ES 角色映射</a:t>
            </a:r>
          </a:p>
          <a:p>
            <a:pPr lvl="0" marL="0" indent="0">
              <a:buNone/>
            </a:pPr>
            <a:r>
              <a:rPr b="1"/>
              <a:t>结果</a:t>
            </a:r>
            <a:r>
              <a:rPr/>
              <a:t>：同一身份源（LDAP）可同时访问阿里云资源与 ES。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2-4:</a:t>
            </a:r>
            <a:r>
              <a:rPr/>
              <a:t> </a:t>
            </a:r>
            <a:r>
              <a:rPr>
                <a:latin typeface="Courier"/>
              </a:rPr>
              <a:t>../ldap-demo</a:t>
            </a:r>
            <a:r>
              <a:rPr/>
              <a:t> </a:t>
            </a:r>
            <a:r>
              <a:rPr/>
              <a:t>的关键价值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解决“LDAP 在隔离内网、IDaaS 无法入站直连”的现实问题。</a:t>
            </a:r>
          </a:p>
          <a:p>
            <a:pPr lvl="1"/>
            <a:r>
              <a:rPr/>
              <a:t>通过 </a:t>
            </a:r>
            <a:r>
              <a:rPr>
                <a:latin typeface="Courier"/>
              </a:rPr>
              <a:t>idaas-ldap-connector</a:t>
            </a:r>
            <a:r>
              <a:rPr/>
              <a:t> 实现：</a:t>
            </a:r>
          </a:p>
          <a:p>
            <a:pPr lvl="1"/>
            <a:r>
              <a:rPr/>
              <a:t>Agent 主动读取 LDAP</a:t>
            </a:r>
          </a:p>
          <a:p>
            <a:pPr lvl="1"/>
            <a:r>
              <a:rPr/>
              <a:t>通过出站 HTTPS（SCIM 2.0）同步到 IDaaS</a:t>
            </a:r>
          </a:p>
          <a:p>
            <a:pPr lvl="1"/>
            <a:r>
              <a:rPr/>
              <a:t>支持定时同步、属性映射、用户/组同步</a:t>
            </a:r>
          </a:p>
          <a:p>
            <a:pPr lvl="0" marL="0" indent="0">
              <a:buNone/>
            </a:pPr>
            <a:r>
              <a:rPr b="1"/>
              <a:t>架构优势</a:t>
            </a:r>
            <a:r>
              <a:rPr/>
              <a:t>：只需内网到公网出站能力，不要求 IDaaS 对内网发起连接。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2-5:</a:t>
            </a:r>
            <a:r>
              <a:rPr/>
              <a:t> </a:t>
            </a:r>
            <a:r>
              <a:rPr/>
              <a:t>单一</a:t>
            </a:r>
            <a:r>
              <a:rPr/>
              <a:t> </a:t>
            </a:r>
            <a:r>
              <a:rPr/>
              <a:t>RAM</a:t>
            </a:r>
            <a:r>
              <a:rPr/>
              <a:t> </a:t>
            </a:r>
            <a:r>
              <a:rPr/>
              <a:t>角色映射模型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在 IDaaS 应用账户中，为 LDAP 用户配置统一的 RAM 角色标识：</a:t>
            </a:r>
          </a:p>
          <a:p>
            <a:pPr lvl="1"/>
            <a:r>
              <a:rPr>
                <a:latin typeface="Courier"/>
              </a:rPr>
              <a:t>role-arn,provider-arn</a:t>
            </a:r>
          </a:p>
          <a:p>
            <a:pPr lvl="1"/>
            <a:r>
              <a:rPr/>
              <a:t>示例模式：多个 LDAP 用户 -&gt; 同一个 RAM 角色</a:t>
            </a:r>
          </a:p>
          <a:p>
            <a:pPr lvl="1"/>
            <a:r>
              <a:rPr/>
              <a:t>这样可实现：</a:t>
            </a:r>
          </a:p>
          <a:p>
            <a:pPr lvl="1"/>
            <a:r>
              <a:rPr/>
              <a:t>控制台 SSO 统一权限面</a:t>
            </a:r>
          </a:p>
          <a:p>
            <a:pPr lvl="1"/>
            <a:r>
              <a:rPr/>
              <a:t>SDK 访问策略一致</a:t>
            </a:r>
          </a:p>
          <a:p>
            <a:pPr lvl="1"/>
            <a:r>
              <a:rPr/>
              <a:t>ES 侧继续用 Cloud IAM realm 做精细角色映射（按 ARN 或 metadata）</a:t>
            </a:r>
          </a:p>
          <a:p>
            <a:pPr lvl="0" marL="0" indent="0">
              <a:buNone/>
            </a:pPr>
            <a:r>
              <a:rPr b="1"/>
              <a:t>组织收益</a:t>
            </a:r>
            <a:r>
              <a:rPr/>
              <a:t>：身份收敛、权限模型收敛、审计路径收敛。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2-6:</a:t>
            </a:r>
            <a:r>
              <a:rPr/>
              <a:t> </a:t>
            </a:r>
            <a:r>
              <a:rPr/>
              <a:t>现实限制与演进建议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已识别限制</a:t>
            </a:r>
          </a:p>
          <a:p>
            <a:pPr lvl="1"/>
            <a:r>
              <a:rPr/>
              <a:t>Cloud IAM OAuth 路径对 assumed-role 识别仍弱于 STS 路径（文档已标注）。</a:t>
            </a:r>
          </a:p>
          <a:p>
            <a:pPr lvl="1"/>
            <a:r>
              <a:rPr>
                <a:latin typeface="Courier"/>
              </a:rPr>
              <a:t>../ldap-demo</a:t>
            </a:r>
            <a:r>
              <a:rPr/>
              <a:t> 文档存在 OIDC 与 SAML 并存历史，当前应以 SAML Role SSO 为主线。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建议</a:t>
            </a:r>
          </a:p>
          <a:p>
            <a:pPr lvl="1"/>
            <a:r>
              <a:rPr/>
              <a:t>生产上优先 STS 签名路径承载 ES SDK 访问。</a:t>
            </a:r>
          </a:p>
          <a:p>
            <a:pPr lvl="1"/>
            <a:r>
              <a:rPr/>
              <a:t>将 OIDC 路径定位为补充能力，补齐 assumed-role parity 后再主推。</a:t>
            </a:r>
          </a:p>
          <a:p>
            <a:pPr lvl="1"/>
            <a:r>
              <a:rPr/>
              <a:t>统一文档口径，避免实施团队混用 OIDC 与 SAML 配置模板。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落地演示建议（可直接</a:t>
            </a:r>
            <a:r>
              <a:rPr/>
              <a:t> </a:t>
            </a:r>
            <a:r>
              <a:rPr/>
              <a:t>Tech</a:t>
            </a:r>
            <a:r>
              <a:rPr/>
              <a:t> </a:t>
            </a:r>
            <a:r>
              <a:rPr/>
              <a:t>Share</a:t>
            </a:r>
            <a:r>
              <a:rPr/>
              <a:t> </a:t>
            </a:r>
            <a:r>
              <a:rPr/>
              <a:t>Live</a:t>
            </a:r>
            <a:r>
              <a:rPr/>
              <a:t> </a:t>
            </a:r>
            <a:r>
              <a:rPr/>
              <a:t>Demo）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演示 shard-aware 索引配置与 </a:t>
            </a:r>
            <a:r>
              <a:rPr>
                <a:latin typeface="Courier"/>
              </a:rPr>
              <a:t>sharding_strategy</a:t>
            </a:r>
            <a:r>
              <a:rPr/>
              <a:t> 切换。</a:t>
            </a:r>
          </a:p>
          <a:p>
            <a:pPr lvl="1">
              <a:buAutoNum type="arabicPeriod"/>
            </a:pPr>
            <a:r>
              <a:rPr/>
              <a:t>演示 </a:t>
            </a:r>
            <a:r>
              <a:rPr>
                <a:latin typeface="Courier"/>
              </a:rPr>
              <a:t>lance_knn</a:t>
            </a:r>
            <a:r>
              <a:rPr/>
              <a:t> 的 </a:t>
            </a:r>
            <a:r>
              <a:rPr>
                <a:latin typeface="Courier"/>
              </a:rPr>
              <a:t>nprobes</a:t>
            </a:r>
            <a:r>
              <a:rPr/>
              <a:t> 与 term filter 下推。</a:t>
            </a:r>
          </a:p>
          <a:p>
            <a:pPr lvl="1">
              <a:buAutoNum type="arabicPeriod"/>
            </a:pPr>
            <a:r>
              <a:rPr/>
              <a:t>调用 </a:t>
            </a:r>
            <a:r>
              <a:rPr>
                <a:latin typeface="Courier"/>
              </a:rPr>
              <a:t>POST /_lance/refresh</a:t>
            </a:r>
            <a:r>
              <a:rPr/>
              <a:t> + </a:t>
            </a:r>
            <a:r>
              <a:rPr>
                <a:latin typeface="Courier"/>
              </a:rPr>
              <a:t>GET /_lance/stats</a:t>
            </a:r>
            <a:r>
              <a:rPr/>
              <a:t> 观察刷新与缓存行为。</a:t>
            </a:r>
          </a:p>
          <a:p>
            <a:pPr lvl="1">
              <a:buAutoNum type="arabicPeriod"/>
            </a:pPr>
            <a:r>
              <a:rPr/>
              <a:t>演示 Cloud IAM STS 签名访问 </a:t>
            </a:r>
            <a:r>
              <a:rPr>
                <a:latin typeface="Courier"/>
              </a:rPr>
              <a:t>/_security/_authenticate</a:t>
            </a:r>
            <a:r>
              <a:rPr/>
              <a:t>。</a:t>
            </a:r>
          </a:p>
          <a:p>
            <a:pPr lvl="1">
              <a:buAutoNum type="arabicPeriod"/>
            </a:pPr>
            <a:r>
              <a:rPr/>
              <a:t>演示 IDaaS 应用账户把 LDAP 用户映射到统一 RAM 角色后的登录链路。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证据索引（建议讲解时备用）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Lance Vector（主仓库）</a:t>
            </a:r>
          </a:p>
          <a:p>
            <a:pPr lvl="1"/>
            <a:r>
              <a:rPr/>
              <a:t>多分片/路由：</a:t>
            </a:r>
            <a:r>
              <a:rPr>
                <a:latin typeface="Courier"/>
              </a:rPr>
              <a:t>plugins/lance-vector/src/main/java/org/elasticsearch/plugin/lance/query/LanceKnnQuery.java</a:t>
            </a:r>
          </a:p>
          <a:p>
            <a:pPr lvl="1"/>
            <a:r>
              <a:rPr/>
              <a:t>存储配置：</a:t>
            </a:r>
            <a:r>
              <a:rPr>
                <a:latin typeface="Courier"/>
              </a:rPr>
              <a:t>plugins/lance-vector/src/main/java/org/elasticsearch/plugin/lance/mapper/LanceStorageConfig.java</a:t>
            </a:r>
          </a:p>
          <a:p>
            <a:pPr lvl="1"/>
            <a:r>
              <a:rPr/>
              <a:t>refresh 启停与 REST 注册：</a:t>
            </a:r>
            <a:r>
              <a:rPr>
                <a:latin typeface="Courier"/>
              </a:rPr>
              <a:t>plugins/lance-vector/src/main/java/org/elasticsearch/plugin/lance/LanceVectorPlugin.java</a:t>
            </a:r>
          </a:p>
          <a:p>
            <a:pPr lvl="1"/>
            <a:r>
              <a:rPr/>
              <a:t>refresh 服务：</a:t>
            </a:r>
            <a:r>
              <a:rPr>
                <a:latin typeface="Courier"/>
              </a:rPr>
              <a:t>plugins/lance-vector/src/main/java/org/elasticsearch/plugin/lance/storage/LanceRefreshService.java</a:t>
            </a:r>
          </a:p>
          <a:p>
            <a:pPr lvl="1"/>
            <a:r>
              <a:rPr/>
              <a:t>并发锁：</a:t>
            </a:r>
            <a:r>
              <a:rPr>
                <a:latin typeface="Courier"/>
              </a:rPr>
              <a:t>plugins/lance-vector/src/main/java/org/elasticsearch/plugin/lance/storage/LanceDatasetRegistry.java</a:t>
            </a:r>
          </a:p>
          <a:p>
            <a:pPr lvl="1"/>
            <a:r>
              <a:rPr/>
              <a:t>filter 转换：</a:t>
            </a:r>
            <a:r>
              <a:rPr>
                <a:latin typeface="Courier"/>
              </a:rPr>
              <a:t>plugins/lance-vector/src/main/java/org/elasticsearch/plugin/lance/query/EsToLanceFilterConverter.java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Cloud IAM（主仓库）</a:t>
            </a:r>
          </a:p>
          <a:p>
            <a:pPr lvl="1"/>
            <a:r>
              <a:rPr/>
              <a:t>Realm 主逻辑：</a:t>
            </a:r>
            <a:r>
              <a:rPr>
                <a:latin typeface="Courier"/>
              </a:rPr>
              <a:t>plugins/security-realm-cloud-iam/src/main/java/org/elasticsearch/plugin/security/cloudiam/CloudIamRealm.java</a:t>
            </a:r>
          </a:p>
          <a:p>
            <a:pPr lvl="1"/>
            <a:r>
              <a:rPr/>
              <a:t>STS 校验：</a:t>
            </a:r>
            <a:r>
              <a:rPr>
                <a:latin typeface="Courier"/>
              </a:rPr>
              <a:t>plugins/security-realm-cloud-iam/src/main/java/org/elasticsearch/plugin/security/cloudiam/AliyunStsClient.java</a:t>
            </a:r>
          </a:p>
          <a:p>
            <a:pPr lvl="1"/>
            <a:r>
              <a:rPr/>
              <a:t>OAuth 校验：</a:t>
            </a:r>
            <a:r>
              <a:rPr>
                <a:latin typeface="Courier"/>
              </a:rPr>
              <a:t>plugins/security-realm-cloud-iam/src/main/java/org/elasticsearch/plugin/security/cloudiam/OAuthTokenValidator.java</a:t>
            </a:r>
          </a:p>
          <a:p>
            <a:pPr lvl="1"/>
            <a:r>
              <a:rPr/>
              <a:t>限制说明：</a:t>
            </a:r>
            <a:r>
              <a:rPr>
                <a:latin typeface="Courier"/>
              </a:rPr>
              <a:t>plugins/security-realm-cloud-iam/LIMITATION.md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IDaaS/LDAP（</a:t>
            </a:r>
            <a:r>
              <a:rPr b="1">
                <a:latin typeface="Courier"/>
              </a:rPr>
              <a:t>../ldap-demo</a:t>
            </a:r>
            <a:r>
              <a:rPr b="1"/>
              <a:t>）</a:t>
            </a:r>
          </a:p>
          <a:p>
            <a:pPr lvl="1"/>
            <a:r>
              <a:rPr/>
              <a:t>总体说明：</a:t>
            </a:r>
            <a:r>
              <a:rPr>
                <a:latin typeface="Courier"/>
              </a:rPr>
              <a:t>../ldap-demo/README.md</a:t>
            </a:r>
          </a:p>
          <a:p>
            <a:pPr lvl="1"/>
            <a:r>
              <a:rPr/>
              <a:t>SAML 架构说明：</a:t>
            </a:r>
            <a:r>
              <a:rPr>
                <a:latin typeface="Courier"/>
              </a:rPr>
              <a:t>../ldap-demo/docs/2026-02-07-SAML_架构说明.md</a:t>
            </a:r>
          </a:p>
          <a:p>
            <a:pPr lvl="1"/>
            <a:r>
              <a:rPr/>
              <a:t>SAML 配置指南：</a:t>
            </a:r>
            <a:r>
              <a:rPr>
                <a:latin typeface="Courier"/>
              </a:rPr>
              <a:t>../ldap-demo/docs/IDAAS_SAML_RoleSSO_设置指南.md</a:t>
            </a:r>
          </a:p>
          <a:p>
            <a:pPr lvl="1"/>
            <a:r>
              <a:rPr/>
              <a:t>连接器实现：</a:t>
            </a:r>
            <a:r>
              <a:rPr>
                <a:latin typeface="Courier"/>
              </a:rPr>
              <a:t>../ldap-demo/idaas-ldap-connector/README.md</a:t>
            </a:r>
          </a:p>
          <a:p>
            <a:pPr lvl="1"/>
            <a:r>
              <a:rPr/>
              <a:t>连接器主程序：</a:t>
            </a:r>
            <a:r>
              <a:rPr>
                <a:latin typeface="Courier"/>
              </a:rPr>
              <a:t>../ldap-demo/idaas-ldap-connector/agent.py</a:t>
            </a:r>
          </a:p>
          <a:p>
            <a:pPr lvl="1"/>
            <a:r>
              <a:rPr/>
              <a:t>E2E 校验：</a:t>
            </a:r>
            <a:r>
              <a:rPr>
                <a:latin typeface="Courier"/>
              </a:rPr>
              <a:t>../ldap-demo/validate-sso-e2e.py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2026-02-09T14:47:01Z</dcterms:created>
  <dcterms:modified xsi:type="dcterms:W3CDTF">2026-02-09T14:47:01Z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